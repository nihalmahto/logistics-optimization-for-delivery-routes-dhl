
<file path=[Content_Types].xml><?xml version="1.0" encoding="utf-8"?>
<Types xmlns="http://schemas.openxmlformats.org/package/2006/content-types">
  <Default Extension="jpeg" ContentType="image/jpeg"/>
  <Default Extension="jpg" ContentType="image/pn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charts/chartEx1.xml" ContentType="application/vnd.ms-office.chartex+xml"/>
  <Override PartName="/ppt/charts/style11.xml" ContentType="application/vnd.ms-office.chartstyle+xml"/>
  <Override PartName="/ppt/charts/colors11.xml" ContentType="application/vnd.ms-office.chartcolorstyle+xml"/>
  <Override PartName="/ppt/charts/chartEx2.xml" ContentType="application/vnd.ms-office.chartex+xml"/>
  <Override PartName="/ppt/charts/style12.xml" ContentType="application/vnd.ms-office.chartstyle+xml"/>
  <Override PartName="/ppt/charts/colors12.xml" ContentType="application/vnd.ms-office.chartcolorstyle+xml"/>
  <Override PartName="/ppt/charts/chart11.xml" ContentType="application/vnd.openxmlformats-officedocument.drawingml.chart+xml"/>
  <Override PartName="/ppt/charts/style13.xml" ContentType="application/vnd.ms-office.chartstyle+xml"/>
  <Override PartName="/ppt/charts/colors13.xml" ContentType="application/vnd.ms-office.chartcolorstyle+xml"/>
  <Override PartName="/ppt/charts/chart12.xml" ContentType="application/vnd.openxmlformats-officedocument.drawingml.chart+xml"/>
  <Override PartName="/ppt/charts/style14.xml" ContentType="application/vnd.ms-office.chartstyle+xml"/>
  <Override PartName="/ppt/charts/colors14.xml" ContentType="application/vnd.ms-office.chartcolorstyle+xml"/>
  <Override PartName="/ppt/charts/chart13.xml" ContentType="application/vnd.openxmlformats-officedocument.drawingml.chart+xml"/>
  <Override PartName="/ppt/charts/style15.xml" ContentType="application/vnd.ms-office.chartstyle+xml"/>
  <Override PartName="/ppt/charts/colors15.xml" ContentType="application/vnd.ms-office.chartcolorstyle+xml"/>
  <Override PartName="/ppt/charts/chart14.xml" ContentType="application/vnd.openxmlformats-officedocument.drawingml.chart+xml"/>
  <Override PartName="/ppt/charts/style16.xml" ContentType="application/vnd.ms-office.chartstyle+xml"/>
  <Override PartName="/ppt/charts/colors16.xml" ContentType="application/vnd.ms-office.chartcolorstyle+xml"/>
  <Override PartName="/ppt/charts/chart15.xml" ContentType="application/vnd.openxmlformats-officedocument.drawingml.chart+xml"/>
  <Override PartName="/ppt/charts/style17.xml" ContentType="application/vnd.ms-office.chartstyle+xml"/>
  <Override PartName="/ppt/charts/colors17.xml" ContentType="application/vnd.ms-office.chartcolorstyle+xml"/>
  <Override PartName="/ppt/charts/chart16.xml" ContentType="application/vnd.openxmlformats-officedocument.drawingml.chart+xml"/>
  <Override PartName="/ppt/charts/style18.xml" ContentType="application/vnd.ms-office.chartstyle+xml"/>
  <Override PartName="/ppt/charts/colors18.xml" ContentType="application/vnd.ms-office.chartcolorstyle+xml"/>
  <Override PartName="/ppt/charts/chart17.xml" ContentType="application/vnd.openxmlformats-officedocument.drawingml.chart+xml"/>
  <Override PartName="/ppt/charts/style19.xml" ContentType="application/vnd.ms-office.chartstyle+xml"/>
  <Override PartName="/ppt/charts/colors19.xml" ContentType="application/vnd.ms-office.chartcolorstyle+xml"/>
  <Override PartName="/ppt/charts/chart18.xml" ContentType="application/vnd.openxmlformats-officedocument.drawingml.chart+xml"/>
  <Override PartName="/ppt/charts/style20.xml" ContentType="application/vnd.ms-office.chartstyle+xml"/>
  <Override PartName="/ppt/charts/colors20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72" r:id="rId4"/>
    <p:sldId id="259" r:id="rId5"/>
    <p:sldId id="286" r:id="rId6"/>
    <p:sldId id="273" r:id="rId7"/>
    <p:sldId id="274" r:id="rId8"/>
    <p:sldId id="275" r:id="rId9"/>
    <p:sldId id="289" r:id="rId10"/>
    <p:sldId id="276" r:id="rId11"/>
    <p:sldId id="277" r:id="rId12"/>
    <p:sldId id="288" r:id="rId13"/>
    <p:sldId id="278" r:id="rId14"/>
    <p:sldId id="279" r:id="rId15"/>
    <p:sldId id="280" r:id="rId16"/>
    <p:sldId id="290" r:id="rId17"/>
    <p:sldId id="281" r:id="rId18"/>
    <p:sldId id="282" r:id="rId19"/>
    <p:sldId id="291" r:id="rId20"/>
    <p:sldId id="283" r:id="rId21"/>
    <p:sldId id="284" r:id="rId22"/>
    <p:sldId id="285" r:id="rId23"/>
    <p:sldId id="292" r:id="rId24"/>
    <p:sldId id="293" r:id="rId25"/>
    <p:sldId id="294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9" autoAdjust="0"/>
    <p:restoredTop sz="96247" autoAdjust="0"/>
  </p:normalViewPr>
  <p:slideViewPr>
    <p:cSldViewPr snapToGrid="0">
      <p:cViewPr varScale="1">
        <p:scale>
          <a:sx n="106" d="100"/>
          <a:sy n="106" d="100"/>
        </p:scale>
        <p:origin x="792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RAM\Downloads\Task%202.2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RAM\Downloads\Task%202.4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RAM\Downloads\Task%203.1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RAM\Downloads\Task%203.3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RAM\Downloads\Task%20SQL%20(Export)\Task%203.2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RAM\Downloads\Task%203.3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RAM\Downloads\Task%20SQL%20(Export)\Task%203.5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RAM\Downloads\Task%204.1.xlsx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RAM\Downloads\Task%204.2.xlsx" TargetMode="External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RAM\Downloads\Task%204.3.xlsx" TargetMode="External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RAM\Downloads\Task%205.2.xlsx" TargetMode="External"/><Relationship Id="rId2" Type="http://schemas.microsoft.com/office/2011/relationships/chartColorStyle" Target="colors13.xml"/><Relationship Id="rId1" Type="http://schemas.microsoft.com/office/2011/relationships/chartStyle" Target="style13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RAM\Downloads\Task%205.3.xlsx" TargetMode="External"/><Relationship Id="rId2" Type="http://schemas.microsoft.com/office/2011/relationships/chartColorStyle" Target="colors14.xml"/><Relationship Id="rId1" Type="http://schemas.microsoft.com/office/2011/relationships/chartStyle" Target="style14.xml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RAM\Downloads\Task%206.11.xlsx" TargetMode="External"/><Relationship Id="rId2" Type="http://schemas.microsoft.com/office/2011/relationships/chartColorStyle" Target="colors15.xml"/><Relationship Id="rId1" Type="http://schemas.microsoft.com/office/2011/relationships/chartStyle" Target="style15.xml"/></Relationships>
</file>

<file path=ppt/charts/_rels/chart1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RAM\Downloads\Task%206.3.xlsx" TargetMode="External"/><Relationship Id="rId2" Type="http://schemas.microsoft.com/office/2011/relationships/chartColorStyle" Target="colors16.xml"/><Relationship Id="rId1" Type="http://schemas.microsoft.com/office/2011/relationships/chartStyle" Target="style16.xml"/></Relationships>
</file>

<file path=ppt/charts/_rels/chart1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RAM\Downloads\Task%206.4.xlsx" TargetMode="External"/><Relationship Id="rId2" Type="http://schemas.microsoft.com/office/2011/relationships/chartColorStyle" Target="colors17.xml"/><Relationship Id="rId1" Type="http://schemas.microsoft.com/office/2011/relationships/chartStyle" Target="style17.xml"/></Relationships>
</file>

<file path=ppt/charts/_rels/chart1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RAM\Downloads\Task%20SQL%20(Export)\Task%207.1.xlsx" TargetMode="External"/><Relationship Id="rId2" Type="http://schemas.microsoft.com/office/2011/relationships/chartColorStyle" Target="colors18.xml"/><Relationship Id="rId1" Type="http://schemas.microsoft.com/office/2011/relationships/chartStyle" Target="style18.xml"/></Relationships>
</file>

<file path=ppt/charts/_rels/chart17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RAM\Downloads\Task%20SQL%20(Export)\Task%203.2.xlsx" TargetMode="External"/><Relationship Id="rId2" Type="http://schemas.microsoft.com/office/2011/relationships/chartColorStyle" Target="colors19.xml"/><Relationship Id="rId1" Type="http://schemas.microsoft.com/office/2011/relationships/chartStyle" Target="style19.xml"/></Relationships>
</file>

<file path=ppt/charts/_rels/chart18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RAM\Downloads\Task%207.4.xlsx" TargetMode="External"/><Relationship Id="rId2" Type="http://schemas.microsoft.com/office/2011/relationships/chartColorStyle" Target="colors20.xml"/><Relationship Id="rId1" Type="http://schemas.microsoft.com/office/2011/relationships/chartStyle" Target="style20.xml"/></Relationships>
</file>

<file path=ppt/charts/_rels/chartEx1.xml.rels><?xml version="1.0" encoding="UTF-8" standalone="yes"?>
<Relationships xmlns="http://schemas.openxmlformats.org/package/2006/relationships"><Relationship Id="rId3" Type="http://schemas.microsoft.com/office/2011/relationships/chartColorStyle" Target="colors11.xml"/><Relationship Id="rId2" Type="http://schemas.microsoft.com/office/2011/relationships/chartStyle" Target="style11.xml"/><Relationship Id="rId1" Type="http://schemas.openxmlformats.org/officeDocument/2006/relationships/oleObject" Target="file:///C:\Users\RAM\Downloads\Task%204.4.xlsx" TargetMode="External"/></Relationships>
</file>

<file path=ppt/charts/_rels/chartEx2.xml.rels><?xml version="1.0" encoding="UTF-8" standalone="yes"?>
<Relationships xmlns="http://schemas.openxmlformats.org/package/2006/relationships"><Relationship Id="rId3" Type="http://schemas.microsoft.com/office/2011/relationships/chartColorStyle" Target="colors12.xml"/><Relationship Id="rId2" Type="http://schemas.microsoft.com/office/2011/relationships/chartStyle" Target="style12.xml"/><Relationship Id="rId1" Type="http://schemas.openxmlformats.org/officeDocument/2006/relationships/oleObject" Target="file:///C:\Users\RAM\Downloads\Task%204.4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en-US" sz="1200" b="0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 sz="1400" b="1" dirty="0"/>
              <a:t>Top 10 Routes with Avg Delay Hours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1200" b="0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Sheet1!$B$2</c:f>
              <c:strCache>
                <c:ptCount val="1"/>
                <c:pt idx="0">
                  <c:v>Avg_Delay_Hours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lang="en-US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Sheet1!$A$3:$A$12</c:f>
              <c:strCache>
                <c:ptCount val="10"/>
                <c:pt idx="0">
                  <c:v>R002</c:v>
                </c:pt>
                <c:pt idx="1">
                  <c:v>R007</c:v>
                </c:pt>
                <c:pt idx="2">
                  <c:v>R020</c:v>
                </c:pt>
                <c:pt idx="3">
                  <c:v>R003</c:v>
                </c:pt>
                <c:pt idx="4">
                  <c:v>R008</c:v>
                </c:pt>
                <c:pt idx="5">
                  <c:v>R005</c:v>
                </c:pt>
                <c:pt idx="6">
                  <c:v>R004</c:v>
                </c:pt>
                <c:pt idx="7">
                  <c:v>R018</c:v>
                </c:pt>
                <c:pt idx="8">
                  <c:v>R011</c:v>
                </c:pt>
                <c:pt idx="9">
                  <c:v>R014</c:v>
                </c:pt>
              </c:strCache>
            </c:strRef>
          </c:cat>
          <c:val>
            <c:numRef>
              <c:f>Sheet1!$B$3:$B$12</c:f>
              <c:numCache>
                <c:formatCode>General</c:formatCode>
                <c:ptCount val="10"/>
                <c:pt idx="0">
                  <c:v>41</c:v>
                </c:pt>
                <c:pt idx="1">
                  <c:v>34</c:v>
                </c:pt>
                <c:pt idx="2" formatCode="#.00">
                  <c:v>32.799999999999997</c:v>
                </c:pt>
                <c:pt idx="3" formatCode="#.00">
                  <c:v>32.200000000000003</c:v>
                </c:pt>
                <c:pt idx="4" formatCode="#.00">
                  <c:v>30.8</c:v>
                </c:pt>
                <c:pt idx="5" formatCode="#.00">
                  <c:v>29.9</c:v>
                </c:pt>
                <c:pt idx="6" formatCode="#.00">
                  <c:v>25.9</c:v>
                </c:pt>
                <c:pt idx="7" formatCode="#.00">
                  <c:v>25.8</c:v>
                </c:pt>
                <c:pt idx="8" formatCode="#.00">
                  <c:v>22.6</c:v>
                </c:pt>
                <c:pt idx="9">
                  <c:v>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47D-4863-A306-060742971776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363109935"/>
        <c:axId val="363113775"/>
      </c:barChart>
      <c:catAx>
        <c:axId val="363109935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63113775"/>
        <c:crosses val="autoZero"/>
        <c:auto val="1"/>
        <c:lblAlgn val="ctr"/>
        <c:lblOffset val="100"/>
        <c:noMultiLvlLbl val="0"/>
      </c:catAx>
      <c:valAx>
        <c:axId val="363113775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36310993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en-US" sz="1000" b="0" i="0" u="none" strike="noStrike" kern="1200" baseline="0">
          <a:solidFill>
            <a:schemeClr val="tx1"/>
          </a:solidFill>
          <a:latin typeface="+mn-lt"/>
          <a:ea typeface="+mn-ea"/>
          <a:cs typeface="+mn-cs"/>
        </a:defRPr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en-US" sz="1200" b="1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IN" b="1"/>
              <a:t>Avg Delay of Delivery Type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1200" b="1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Sheet1!$A$3</c:f>
              <c:strCache>
                <c:ptCount val="1"/>
                <c:pt idx="0">
                  <c:v>Standard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lang="en-US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Sheet1!$B$2</c:f>
              <c:strCache>
                <c:ptCount val="1"/>
                <c:pt idx="0">
                  <c:v>Avg_Delay_Hours</c:v>
                </c:pt>
              </c:strCache>
            </c:strRef>
          </c:cat>
          <c:val>
            <c:numRef>
              <c:f>Sheet1!$B$3</c:f>
              <c:numCache>
                <c:formatCode>#.00</c:formatCode>
                <c:ptCount val="1"/>
                <c:pt idx="0">
                  <c:v>20.9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7A4-42C2-9373-20C4255D1148}"/>
            </c:ext>
          </c:extLst>
        </c:ser>
        <c:ser>
          <c:idx val="1"/>
          <c:order val="1"/>
          <c:tx>
            <c:strRef>
              <c:f>Sheet1!$A$4</c:f>
              <c:strCache>
                <c:ptCount val="1"/>
                <c:pt idx="0">
                  <c:v>Express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lang="en-US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Sheet1!$B$2</c:f>
              <c:strCache>
                <c:ptCount val="1"/>
                <c:pt idx="0">
                  <c:v>Avg_Delay_Hours</c:v>
                </c:pt>
              </c:strCache>
            </c:strRef>
          </c:cat>
          <c:val>
            <c:numRef>
              <c:f>Sheet1!$B$4</c:f>
              <c:numCache>
                <c:formatCode>#.00</c:formatCode>
                <c:ptCount val="1"/>
                <c:pt idx="0">
                  <c:v>22.5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7A4-42C2-9373-20C4255D1148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237346671"/>
        <c:axId val="237368271"/>
      </c:barChart>
      <c:catAx>
        <c:axId val="237346671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237368271"/>
        <c:crosses val="autoZero"/>
        <c:auto val="1"/>
        <c:lblAlgn val="ctr"/>
        <c:lblOffset val="100"/>
        <c:noMultiLvlLbl val="0"/>
      </c:catAx>
      <c:valAx>
        <c:axId val="237368271"/>
        <c:scaling>
          <c:orientation val="minMax"/>
        </c:scaling>
        <c:delete val="1"/>
        <c:axPos val="l"/>
        <c:numFmt formatCode="#.00" sourceLinked="1"/>
        <c:majorTickMark val="out"/>
        <c:minorTickMark val="none"/>
        <c:tickLblPos val="nextTo"/>
        <c:crossAx val="23734667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10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en-US" sz="1000" b="0" i="0" u="none" strike="noStrike" kern="1200" baseline="0">
          <a:solidFill>
            <a:schemeClr val="tx1"/>
          </a:solidFill>
          <a:latin typeface="+mn-lt"/>
          <a:ea typeface="+mn-ea"/>
          <a:cs typeface="+mn-cs"/>
        </a:defRPr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b="1" dirty="0">
                <a:solidFill>
                  <a:schemeClr val="tx1"/>
                </a:solidFill>
              </a:rPr>
              <a:t>Avg</a:t>
            </a:r>
            <a:r>
              <a:rPr lang="en-US" b="1" baseline="0" dirty="0">
                <a:solidFill>
                  <a:schemeClr val="tx1"/>
                </a:solidFill>
              </a:rPr>
              <a:t> </a:t>
            </a:r>
            <a:r>
              <a:rPr lang="en-US" b="1" dirty="0">
                <a:solidFill>
                  <a:schemeClr val="tx1"/>
                </a:solidFill>
              </a:rPr>
              <a:t>Transit</a:t>
            </a:r>
            <a:r>
              <a:rPr lang="en-US" b="1" baseline="0" dirty="0">
                <a:solidFill>
                  <a:schemeClr val="tx1"/>
                </a:solidFill>
              </a:rPr>
              <a:t> </a:t>
            </a:r>
            <a:r>
              <a:rPr lang="en-US" b="1" dirty="0">
                <a:solidFill>
                  <a:schemeClr val="tx1"/>
                </a:solidFill>
              </a:rPr>
              <a:t>Time of each Route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1.6145167359626032E-2"/>
          <c:y val="0.10332336131910788"/>
          <c:w val="0.96770966528074798"/>
          <c:h val="0.8014733086830723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Sheet1!$B$2</c:f>
              <c:strCache>
                <c:ptCount val="1"/>
                <c:pt idx="0">
                  <c:v>Avg_Transit_Time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Sheet1!$A$3:$A$22</c:f>
              <c:strCache>
                <c:ptCount val="20"/>
                <c:pt idx="0">
                  <c:v>R004</c:v>
                </c:pt>
                <c:pt idx="1">
                  <c:v>R018</c:v>
                </c:pt>
                <c:pt idx="2">
                  <c:v>R007</c:v>
                </c:pt>
                <c:pt idx="3">
                  <c:v>R017</c:v>
                </c:pt>
                <c:pt idx="4">
                  <c:v>R012</c:v>
                </c:pt>
                <c:pt idx="5">
                  <c:v>R002</c:v>
                </c:pt>
                <c:pt idx="6">
                  <c:v>R003</c:v>
                </c:pt>
                <c:pt idx="7">
                  <c:v>R005</c:v>
                </c:pt>
                <c:pt idx="8">
                  <c:v>R020</c:v>
                </c:pt>
                <c:pt idx="9">
                  <c:v>R014</c:v>
                </c:pt>
                <c:pt idx="10">
                  <c:v>R016</c:v>
                </c:pt>
                <c:pt idx="11">
                  <c:v>R008</c:v>
                </c:pt>
                <c:pt idx="12">
                  <c:v>R013</c:v>
                </c:pt>
                <c:pt idx="13">
                  <c:v>R001</c:v>
                </c:pt>
                <c:pt idx="14">
                  <c:v>R006</c:v>
                </c:pt>
                <c:pt idx="15">
                  <c:v>R011</c:v>
                </c:pt>
                <c:pt idx="16">
                  <c:v>R010</c:v>
                </c:pt>
                <c:pt idx="17">
                  <c:v>R019</c:v>
                </c:pt>
                <c:pt idx="18">
                  <c:v>R009</c:v>
                </c:pt>
                <c:pt idx="19">
                  <c:v>R015</c:v>
                </c:pt>
              </c:strCache>
            </c:strRef>
          </c:cat>
          <c:val>
            <c:numRef>
              <c:f>Sheet1!$B$3:$B$22</c:f>
              <c:numCache>
                <c:formatCode>#.00</c:formatCode>
                <c:ptCount val="20"/>
                <c:pt idx="0">
                  <c:v>84.3</c:v>
                </c:pt>
                <c:pt idx="1">
                  <c:v>76.2</c:v>
                </c:pt>
                <c:pt idx="2">
                  <c:v>71.400000000000006</c:v>
                </c:pt>
                <c:pt idx="3" formatCode="General">
                  <c:v>71</c:v>
                </c:pt>
                <c:pt idx="4">
                  <c:v>64.3</c:v>
                </c:pt>
                <c:pt idx="5">
                  <c:v>64.2</c:v>
                </c:pt>
                <c:pt idx="6">
                  <c:v>60.8</c:v>
                </c:pt>
                <c:pt idx="7">
                  <c:v>57.6</c:v>
                </c:pt>
                <c:pt idx="8">
                  <c:v>53.4</c:v>
                </c:pt>
                <c:pt idx="9">
                  <c:v>52.9</c:v>
                </c:pt>
                <c:pt idx="10">
                  <c:v>52.2</c:v>
                </c:pt>
                <c:pt idx="11">
                  <c:v>51.6</c:v>
                </c:pt>
                <c:pt idx="12">
                  <c:v>50.8</c:v>
                </c:pt>
                <c:pt idx="13">
                  <c:v>44.8</c:v>
                </c:pt>
                <c:pt idx="14" formatCode="General">
                  <c:v>42</c:v>
                </c:pt>
                <c:pt idx="15">
                  <c:v>41.6</c:v>
                </c:pt>
                <c:pt idx="16" formatCode="General">
                  <c:v>34</c:v>
                </c:pt>
                <c:pt idx="17">
                  <c:v>31.2</c:v>
                </c:pt>
                <c:pt idx="18">
                  <c:v>28.7</c:v>
                </c:pt>
                <c:pt idx="19">
                  <c:v>28.6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764-4A87-8DA6-F6219EC8D7F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237375471"/>
        <c:axId val="237390831"/>
      </c:barChart>
      <c:catAx>
        <c:axId val="237375471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37390831"/>
        <c:crosses val="autoZero"/>
        <c:auto val="1"/>
        <c:lblAlgn val="ctr"/>
        <c:lblOffset val="100"/>
        <c:noMultiLvlLbl val="0"/>
      </c:catAx>
      <c:valAx>
        <c:axId val="237390831"/>
        <c:scaling>
          <c:orientation val="minMax"/>
        </c:scaling>
        <c:delete val="1"/>
        <c:axPos val="l"/>
        <c:numFmt formatCode="#.00" sourceLinked="1"/>
        <c:majorTickMark val="out"/>
        <c:minorTickMark val="none"/>
        <c:tickLblPos val="nextTo"/>
        <c:crossAx val="23737547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algn="ctr" rtl="0">
              <a:defRPr lang="en-US" sz="1400" b="1" i="0" u="none" strike="noStrike" kern="1200" spc="0" baseline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pPr>
            <a:r>
              <a:rPr lang="en-US" sz="1400" b="1" i="0" u="none" strike="noStrike" kern="1200" spc="0" baseline="0" dirty="0">
                <a:solidFill>
                  <a:prstClr val="black"/>
                </a:solidFill>
                <a:latin typeface="+mn-lt"/>
                <a:ea typeface="+mn-ea"/>
                <a:cs typeface="+mn-cs"/>
              </a:rPr>
              <a:t> Distance-to-Time Efficiency ratio of each Route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 rtl="0">
            <a:defRPr lang="en-US" sz="1400" b="1" i="0" u="none" strike="noStrike" kern="1200" spc="0" baseline="0">
              <a:solidFill>
                <a:prstClr val="black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Sheet1!$B$2</c:f>
              <c:strCache>
                <c:ptCount val="1"/>
                <c:pt idx="0">
                  <c:v>Efficiency_Ratio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Sheet1!$A$3:$A$22</c:f>
              <c:strCache>
                <c:ptCount val="20"/>
                <c:pt idx="0">
                  <c:v>R003</c:v>
                </c:pt>
                <c:pt idx="1">
                  <c:v>R015</c:v>
                </c:pt>
                <c:pt idx="2">
                  <c:v>R006</c:v>
                </c:pt>
                <c:pt idx="3">
                  <c:v>R008</c:v>
                </c:pt>
                <c:pt idx="4">
                  <c:v>R013</c:v>
                </c:pt>
                <c:pt idx="5">
                  <c:v>R001</c:v>
                </c:pt>
                <c:pt idx="6">
                  <c:v>R020</c:v>
                </c:pt>
                <c:pt idx="7">
                  <c:v>R017</c:v>
                </c:pt>
                <c:pt idx="8">
                  <c:v>R007</c:v>
                </c:pt>
                <c:pt idx="9">
                  <c:v>R004</c:v>
                </c:pt>
                <c:pt idx="10">
                  <c:v>R014</c:v>
                </c:pt>
                <c:pt idx="11">
                  <c:v>R018</c:v>
                </c:pt>
                <c:pt idx="12">
                  <c:v>R016</c:v>
                </c:pt>
                <c:pt idx="13">
                  <c:v>R012</c:v>
                </c:pt>
                <c:pt idx="14">
                  <c:v>R009</c:v>
                </c:pt>
                <c:pt idx="15">
                  <c:v>R002</c:v>
                </c:pt>
                <c:pt idx="16">
                  <c:v>R005</c:v>
                </c:pt>
                <c:pt idx="17">
                  <c:v>R011</c:v>
                </c:pt>
                <c:pt idx="18">
                  <c:v>R010</c:v>
                </c:pt>
                <c:pt idx="19">
                  <c:v>R019</c:v>
                </c:pt>
              </c:strCache>
            </c:strRef>
          </c:cat>
          <c:val>
            <c:numRef>
              <c:f>Sheet1!$B$3:$B$22</c:f>
              <c:numCache>
                <c:formatCode>0.0</c:formatCode>
                <c:ptCount val="20"/>
                <c:pt idx="0">
                  <c:v>37.700000000000003</c:v>
                </c:pt>
                <c:pt idx="1">
                  <c:v>52.7</c:v>
                </c:pt>
                <c:pt idx="2">
                  <c:v>101.5</c:v>
                </c:pt>
                <c:pt idx="3">
                  <c:v>108</c:v>
                </c:pt>
                <c:pt idx="4">
                  <c:v>121.2</c:v>
                </c:pt>
                <c:pt idx="5">
                  <c:v>143.9</c:v>
                </c:pt>
                <c:pt idx="6">
                  <c:v>146.1</c:v>
                </c:pt>
                <c:pt idx="7">
                  <c:v>147.5</c:v>
                </c:pt>
                <c:pt idx="8">
                  <c:v>173.7</c:v>
                </c:pt>
                <c:pt idx="9">
                  <c:v>174.2</c:v>
                </c:pt>
                <c:pt idx="10">
                  <c:v>197.6</c:v>
                </c:pt>
                <c:pt idx="11">
                  <c:v>217.4</c:v>
                </c:pt>
                <c:pt idx="12">
                  <c:v>257</c:v>
                </c:pt>
                <c:pt idx="13">
                  <c:v>269.39999999999998</c:v>
                </c:pt>
                <c:pt idx="14">
                  <c:v>360.1</c:v>
                </c:pt>
                <c:pt idx="15">
                  <c:v>392.6</c:v>
                </c:pt>
                <c:pt idx="16">
                  <c:v>430.2</c:v>
                </c:pt>
                <c:pt idx="17">
                  <c:v>475.4</c:v>
                </c:pt>
                <c:pt idx="18">
                  <c:v>540.29999999999995</c:v>
                </c:pt>
                <c:pt idx="19">
                  <c:v>545.5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019-4A5C-84A7-90F2ACBDEA5D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271836480"/>
        <c:axId val="1271833600"/>
      </c:barChart>
      <c:catAx>
        <c:axId val="12718364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71833600"/>
        <c:crosses val="autoZero"/>
        <c:auto val="1"/>
        <c:lblAlgn val="ctr"/>
        <c:lblOffset val="100"/>
        <c:noMultiLvlLbl val="0"/>
      </c:catAx>
      <c:valAx>
        <c:axId val="1271833600"/>
        <c:scaling>
          <c:orientation val="minMax"/>
        </c:scaling>
        <c:delete val="1"/>
        <c:axPos val="l"/>
        <c:numFmt formatCode="0.0" sourceLinked="1"/>
        <c:majorTickMark val="none"/>
        <c:minorTickMark val="none"/>
        <c:tickLblPos val="nextTo"/>
        <c:crossAx val="127183648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algn="ctr" rtl="0">
              <a:defRPr lang="en-IN" sz="1400" b="1" i="0" u="none" strike="noStrike" kern="1200" spc="0" baseline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pPr>
            <a:r>
              <a:rPr lang="en-US" sz="1400" b="1" i="0" u="none" strike="noStrike" kern="1200" spc="0" baseline="0" dirty="0">
                <a:solidFill>
                  <a:prstClr val="black"/>
                </a:solidFill>
                <a:latin typeface="+mn-lt"/>
                <a:ea typeface="+mn-ea"/>
                <a:cs typeface="+mn-cs"/>
              </a:rPr>
              <a:t>Avg Delay Hours of each Route</a:t>
            </a:r>
          </a:p>
        </c:rich>
      </c:tx>
      <c:layout>
        <c:manualLayout>
          <c:xMode val="edge"/>
          <c:yMode val="edge"/>
          <c:x val="0.35914371493630193"/>
          <c:y val="4.7798500019624809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 rtl="0">
            <a:defRPr lang="en-IN" sz="1400" b="1" i="0" u="none" strike="noStrike" kern="1200" spc="0" baseline="0">
              <a:solidFill>
                <a:prstClr val="black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Sheet1!$B$2</c:f>
              <c:strCache>
                <c:ptCount val="1"/>
                <c:pt idx="0">
                  <c:v>Avg_Delay_Hours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Sheet1!$A$3:$A$22</c:f>
              <c:strCache>
                <c:ptCount val="20"/>
                <c:pt idx="0">
                  <c:v>R002</c:v>
                </c:pt>
                <c:pt idx="1">
                  <c:v>R007</c:v>
                </c:pt>
                <c:pt idx="2">
                  <c:v>R020</c:v>
                </c:pt>
                <c:pt idx="3">
                  <c:v>R003</c:v>
                </c:pt>
                <c:pt idx="4">
                  <c:v>R008</c:v>
                </c:pt>
                <c:pt idx="5">
                  <c:v>R005</c:v>
                </c:pt>
                <c:pt idx="6">
                  <c:v>R004</c:v>
                </c:pt>
                <c:pt idx="7">
                  <c:v>R018</c:v>
                </c:pt>
                <c:pt idx="8">
                  <c:v>R011</c:v>
                </c:pt>
                <c:pt idx="9">
                  <c:v>R014</c:v>
                </c:pt>
                <c:pt idx="10">
                  <c:v>R010</c:v>
                </c:pt>
                <c:pt idx="11">
                  <c:v>R017</c:v>
                </c:pt>
                <c:pt idx="12">
                  <c:v>R015</c:v>
                </c:pt>
                <c:pt idx="13">
                  <c:v>R016</c:v>
                </c:pt>
                <c:pt idx="14">
                  <c:v>R006</c:v>
                </c:pt>
                <c:pt idx="15">
                  <c:v>R012</c:v>
                </c:pt>
                <c:pt idx="16">
                  <c:v>R019</c:v>
                </c:pt>
                <c:pt idx="17">
                  <c:v>R013</c:v>
                </c:pt>
                <c:pt idx="18">
                  <c:v>R009</c:v>
                </c:pt>
                <c:pt idx="19">
                  <c:v>R001</c:v>
                </c:pt>
              </c:strCache>
            </c:strRef>
          </c:cat>
          <c:val>
            <c:numRef>
              <c:f>Sheet1!$B$3:$B$22</c:f>
              <c:numCache>
                <c:formatCode>0.0</c:formatCode>
                <c:ptCount val="20"/>
                <c:pt idx="0">
                  <c:v>41</c:v>
                </c:pt>
                <c:pt idx="1">
                  <c:v>34</c:v>
                </c:pt>
                <c:pt idx="2">
                  <c:v>32.799999999999997</c:v>
                </c:pt>
                <c:pt idx="3">
                  <c:v>32.200000000000003</c:v>
                </c:pt>
                <c:pt idx="4">
                  <c:v>30.8</c:v>
                </c:pt>
                <c:pt idx="5">
                  <c:v>29.9</c:v>
                </c:pt>
                <c:pt idx="6">
                  <c:v>25.9</c:v>
                </c:pt>
                <c:pt idx="7">
                  <c:v>25.8</c:v>
                </c:pt>
                <c:pt idx="8">
                  <c:v>22.6</c:v>
                </c:pt>
                <c:pt idx="9">
                  <c:v>21</c:v>
                </c:pt>
                <c:pt idx="10">
                  <c:v>20.3</c:v>
                </c:pt>
                <c:pt idx="11">
                  <c:v>19.3</c:v>
                </c:pt>
                <c:pt idx="12">
                  <c:v>15.2</c:v>
                </c:pt>
                <c:pt idx="13">
                  <c:v>14.9</c:v>
                </c:pt>
                <c:pt idx="14">
                  <c:v>14</c:v>
                </c:pt>
                <c:pt idx="15">
                  <c:v>13.9</c:v>
                </c:pt>
                <c:pt idx="16">
                  <c:v>13.9</c:v>
                </c:pt>
                <c:pt idx="17">
                  <c:v>11.9</c:v>
                </c:pt>
                <c:pt idx="18">
                  <c:v>9.6999999999999993</c:v>
                </c:pt>
                <c:pt idx="19">
                  <c:v>6.8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B4B-434F-984C-9B33B917F5FD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271877280"/>
        <c:axId val="1271869120"/>
      </c:barChart>
      <c:catAx>
        <c:axId val="12718772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71869120"/>
        <c:crosses val="autoZero"/>
        <c:auto val="1"/>
        <c:lblAlgn val="ctr"/>
        <c:lblOffset val="100"/>
        <c:noMultiLvlLbl val="0"/>
      </c:catAx>
      <c:valAx>
        <c:axId val="1271869120"/>
        <c:scaling>
          <c:orientation val="minMax"/>
        </c:scaling>
        <c:delete val="1"/>
        <c:axPos val="l"/>
        <c:numFmt formatCode="0.0" sourceLinked="1"/>
        <c:majorTickMark val="none"/>
        <c:minorTickMark val="none"/>
        <c:tickLblPos val="nextTo"/>
        <c:crossAx val="127187728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 b="1" dirty="0">
                <a:solidFill>
                  <a:schemeClr val="tx1"/>
                </a:solidFill>
              </a:rPr>
              <a:t>Least Efficient</a:t>
            </a:r>
            <a:r>
              <a:rPr lang="en-US" b="1" baseline="0" dirty="0">
                <a:solidFill>
                  <a:schemeClr val="tx1"/>
                </a:solidFill>
              </a:rPr>
              <a:t> Routes</a:t>
            </a:r>
            <a:endParaRPr lang="en-US" b="1" dirty="0">
              <a:solidFill>
                <a:schemeClr val="tx1"/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Sheet2!$B$1</c:f>
              <c:strCache>
                <c:ptCount val="1"/>
                <c:pt idx="0">
                  <c:v>Efficiency_Ratio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Sheet2!$A$2:$A$21</c:f>
              <c:strCache>
                <c:ptCount val="3"/>
                <c:pt idx="0">
                  <c:v>R003</c:v>
                </c:pt>
                <c:pt idx="1">
                  <c:v>R015</c:v>
                </c:pt>
                <c:pt idx="2">
                  <c:v>R006</c:v>
                </c:pt>
              </c:strCache>
            </c:strRef>
          </c:cat>
          <c:val>
            <c:numRef>
              <c:f>Sheet2!$B$2:$B$21</c:f>
              <c:numCache>
                <c:formatCode>0.0</c:formatCode>
                <c:ptCount val="3"/>
                <c:pt idx="0">
                  <c:v>37.700000000000003</c:v>
                </c:pt>
                <c:pt idx="1">
                  <c:v>52.7</c:v>
                </c:pt>
                <c:pt idx="2">
                  <c:v>101.5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BE2-49B5-984C-64E81C81F36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271825920"/>
        <c:axId val="1271844640"/>
      </c:barChart>
      <c:catAx>
        <c:axId val="12718259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71844640"/>
        <c:crosses val="autoZero"/>
        <c:auto val="1"/>
        <c:lblAlgn val="ctr"/>
        <c:lblOffset val="100"/>
        <c:noMultiLvlLbl val="0"/>
      </c:catAx>
      <c:valAx>
        <c:axId val="1271844640"/>
        <c:scaling>
          <c:orientation val="minMax"/>
        </c:scaling>
        <c:delete val="1"/>
        <c:axPos val="l"/>
        <c:numFmt formatCode="0.0" sourceLinked="1"/>
        <c:majorTickMark val="none"/>
        <c:minorTickMark val="none"/>
        <c:tickLblPos val="nextTo"/>
        <c:crossAx val="127182592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 b="1" dirty="0">
                <a:solidFill>
                  <a:schemeClr val="tx1"/>
                </a:solidFill>
              </a:rPr>
              <a:t>Delayed Percentage of each Route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Sheet1!$B$2</c:f>
              <c:strCache>
                <c:ptCount val="1"/>
                <c:pt idx="0">
                  <c:v>Delayed_Percentage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Sheet1!$A$3:$A$22</c:f>
              <c:strCache>
                <c:ptCount val="20"/>
                <c:pt idx="0">
                  <c:v>R015</c:v>
                </c:pt>
                <c:pt idx="1">
                  <c:v>R001</c:v>
                </c:pt>
                <c:pt idx="2">
                  <c:v>R016</c:v>
                </c:pt>
                <c:pt idx="3">
                  <c:v>R017</c:v>
                </c:pt>
                <c:pt idx="4">
                  <c:v>R008</c:v>
                </c:pt>
                <c:pt idx="5">
                  <c:v>R011</c:v>
                </c:pt>
                <c:pt idx="6">
                  <c:v>R019</c:v>
                </c:pt>
                <c:pt idx="7">
                  <c:v>R013</c:v>
                </c:pt>
                <c:pt idx="8">
                  <c:v>R014</c:v>
                </c:pt>
                <c:pt idx="9">
                  <c:v>R006</c:v>
                </c:pt>
                <c:pt idx="10">
                  <c:v>R020</c:v>
                </c:pt>
                <c:pt idx="11">
                  <c:v>R002</c:v>
                </c:pt>
                <c:pt idx="12">
                  <c:v>R018</c:v>
                </c:pt>
                <c:pt idx="13">
                  <c:v>R007</c:v>
                </c:pt>
                <c:pt idx="14">
                  <c:v>R003</c:v>
                </c:pt>
                <c:pt idx="15">
                  <c:v>R005</c:v>
                </c:pt>
                <c:pt idx="16">
                  <c:v>R004</c:v>
                </c:pt>
                <c:pt idx="17">
                  <c:v>R010</c:v>
                </c:pt>
                <c:pt idx="18">
                  <c:v>R012</c:v>
                </c:pt>
                <c:pt idx="19">
                  <c:v>R009</c:v>
                </c:pt>
              </c:strCache>
            </c:strRef>
          </c:cat>
          <c:val>
            <c:numRef>
              <c:f>Sheet1!$B$3:$B$22</c:f>
              <c:numCache>
                <c:formatCode>#.0</c:formatCode>
                <c:ptCount val="20"/>
                <c:pt idx="0">
                  <c:v>82.142899999999997</c:v>
                </c:pt>
                <c:pt idx="1">
                  <c:v>88.636399999999995</c:v>
                </c:pt>
                <c:pt idx="2">
                  <c:v>88.732399999999998</c:v>
                </c:pt>
                <c:pt idx="3">
                  <c:v>90.566000000000003</c:v>
                </c:pt>
                <c:pt idx="4">
                  <c:v>90.909099999999995</c:v>
                </c:pt>
                <c:pt idx="5">
                  <c:v>91.666700000000006</c:v>
                </c:pt>
                <c:pt idx="6">
                  <c:v>91.836699999999993</c:v>
                </c:pt>
                <c:pt idx="7">
                  <c:v>92</c:v>
                </c:pt>
                <c:pt idx="8">
                  <c:v>92.452799999999996</c:v>
                </c:pt>
                <c:pt idx="9">
                  <c:v>92.857100000000003</c:v>
                </c:pt>
                <c:pt idx="10">
                  <c:v>92.857100000000003</c:v>
                </c:pt>
                <c:pt idx="11">
                  <c:v>93.617000000000004</c:v>
                </c:pt>
                <c:pt idx="12">
                  <c:v>94.915300000000002</c:v>
                </c:pt>
                <c:pt idx="13">
                  <c:v>96.078400000000002</c:v>
                </c:pt>
                <c:pt idx="14">
                  <c:v>97.058800000000005</c:v>
                </c:pt>
                <c:pt idx="15">
                  <c:v>97.916700000000006</c:v>
                </c:pt>
                <c:pt idx="16">
                  <c:v>97.959199999999996</c:v>
                </c:pt>
                <c:pt idx="17">
                  <c:v>98.076899999999995</c:v>
                </c:pt>
                <c:pt idx="18">
                  <c:v>98.214299999999994</c:v>
                </c:pt>
                <c:pt idx="19">
                  <c:v>100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DE8-485F-B452-3A6251936175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271853280"/>
        <c:axId val="1271874880"/>
      </c:barChart>
      <c:catAx>
        <c:axId val="12718532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71874880"/>
        <c:crosses val="autoZero"/>
        <c:auto val="1"/>
        <c:lblAlgn val="ctr"/>
        <c:lblOffset val="100"/>
        <c:noMultiLvlLbl val="0"/>
      </c:catAx>
      <c:valAx>
        <c:axId val="1271874880"/>
        <c:scaling>
          <c:orientation val="minMax"/>
        </c:scaling>
        <c:delete val="1"/>
        <c:axPos val="l"/>
        <c:numFmt formatCode="#.0" sourceLinked="1"/>
        <c:majorTickMark val="out"/>
        <c:minorTickMark val="none"/>
        <c:tickLblPos val="nextTo"/>
        <c:crossAx val="127185328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en-US" sz="1200" b="1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GB" sz="1200" b="1" dirty="0"/>
              <a:t>Top 3 Warehouses with Highest Average Delay Hours</a:t>
            </a:r>
            <a:endParaRPr lang="en-US" sz="1200" b="1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1200" b="1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Sheet1!$B$2</c:f>
              <c:strCache>
                <c:ptCount val="1"/>
                <c:pt idx="0">
                  <c:v>Avg_Delay_Hours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lang="en-US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Sheet1!$A$3:$A$5</c:f>
              <c:strCache>
                <c:ptCount val="3"/>
                <c:pt idx="0">
                  <c:v>W008</c:v>
                </c:pt>
                <c:pt idx="1">
                  <c:v>W003</c:v>
                </c:pt>
                <c:pt idx="2">
                  <c:v>W004</c:v>
                </c:pt>
              </c:strCache>
            </c:strRef>
          </c:cat>
          <c:val>
            <c:numRef>
              <c:f>Sheet1!$B$3:$B$5</c:f>
              <c:numCache>
                <c:formatCode>#.0</c:formatCode>
                <c:ptCount val="3"/>
                <c:pt idx="0">
                  <c:v>24.4</c:v>
                </c:pt>
                <c:pt idx="1">
                  <c:v>25.5</c:v>
                </c:pt>
                <c:pt idx="2">
                  <c:v>25.9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C67-4A61-8A1D-AAA856C0264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82"/>
        <c:axId val="1271885920"/>
        <c:axId val="1271885440"/>
      </c:barChart>
      <c:catAx>
        <c:axId val="127188592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71885440"/>
        <c:crosses val="autoZero"/>
        <c:auto val="1"/>
        <c:lblAlgn val="ctr"/>
        <c:lblOffset val="100"/>
        <c:noMultiLvlLbl val="0"/>
      </c:catAx>
      <c:valAx>
        <c:axId val="1271885440"/>
        <c:scaling>
          <c:orientation val="minMax"/>
        </c:scaling>
        <c:delete val="1"/>
        <c:axPos val="b"/>
        <c:numFmt formatCode="#.0" sourceLinked="1"/>
        <c:majorTickMark val="none"/>
        <c:minorTickMark val="none"/>
        <c:tickLblPos val="nextTo"/>
        <c:crossAx val="127188592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lang="en-US" sz="1000" b="0" i="0" u="none" strike="noStrike" kern="1200" baseline="0">
          <a:solidFill>
            <a:schemeClr val="tx1"/>
          </a:solidFill>
          <a:latin typeface="+mn-lt"/>
          <a:ea typeface="+mn-ea"/>
          <a:cs typeface="+mn-cs"/>
        </a:defRPr>
      </a:pPr>
      <a:endParaRPr lang="en-US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en-US" sz="1200" b="1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GB" sz="1200" b="1" i="0" u="none" strike="noStrike" baseline="0" dirty="0"/>
              <a:t>Total Shipments vs Delayed Shipments for each Warehouse</a:t>
            </a:r>
            <a:endParaRPr lang="en-IN" b="1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1200" b="1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Sheet1!$B$2</c:f>
              <c:strCache>
                <c:ptCount val="1"/>
                <c:pt idx="0">
                  <c:v>Total_Shipments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Sheet1!$A$3:$A$12</c:f>
              <c:strCache>
                <c:ptCount val="10"/>
                <c:pt idx="0">
                  <c:v>W001</c:v>
                </c:pt>
                <c:pt idx="1">
                  <c:v>W002</c:v>
                </c:pt>
                <c:pt idx="2">
                  <c:v>W003</c:v>
                </c:pt>
                <c:pt idx="3">
                  <c:v>W004</c:v>
                </c:pt>
                <c:pt idx="4">
                  <c:v>W005</c:v>
                </c:pt>
                <c:pt idx="5">
                  <c:v>W006</c:v>
                </c:pt>
                <c:pt idx="6">
                  <c:v>W007</c:v>
                </c:pt>
                <c:pt idx="7">
                  <c:v>W008</c:v>
                </c:pt>
                <c:pt idx="8">
                  <c:v>W009</c:v>
                </c:pt>
                <c:pt idx="9">
                  <c:v>W010</c:v>
                </c:pt>
              </c:strCache>
            </c:strRef>
          </c:cat>
          <c:val>
            <c:numRef>
              <c:f>Sheet1!$B$3:$B$12</c:f>
              <c:numCache>
                <c:formatCode>General</c:formatCode>
                <c:ptCount val="10"/>
                <c:pt idx="0">
                  <c:v>103</c:v>
                </c:pt>
                <c:pt idx="1">
                  <c:v>97</c:v>
                </c:pt>
                <c:pt idx="2">
                  <c:v>107</c:v>
                </c:pt>
                <c:pt idx="3">
                  <c:v>90</c:v>
                </c:pt>
                <c:pt idx="4">
                  <c:v>102</c:v>
                </c:pt>
                <c:pt idx="5">
                  <c:v>99</c:v>
                </c:pt>
                <c:pt idx="6">
                  <c:v>96</c:v>
                </c:pt>
                <c:pt idx="7">
                  <c:v>112</c:v>
                </c:pt>
                <c:pt idx="8">
                  <c:v>91</c:v>
                </c:pt>
                <c:pt idx="9">
                  <c:v>103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D82-4570-AA5A-56BD61BA1F03}"/>
            </c:ext>
          </c:extLst>
        </c:ser>
        <c:ser>
          <c:idx val="1"/>
          <c:order val="1"/>
          <c:tx>
            <c:strRef>
              <c:f>Sheet1!$C$2</c:f>
              <c:strCache>
                <c:ptCount val="1"/>
                <c:pt idx="0">
                  <c:v>Delayed_Shipments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Sheet1!$A$3:$A$12</c:f>
              <c:strCache>
                <c:ptCount val="10"/>
                <c:pt idx="0">
                  <c:v>W001</c:v>
                </c:pt>
                <c:pt idx="1">
                  <c:v>W002</c:v>
                </c:pt>
                <c:pt idx="2">
                  <c:v>W003</c:v>
                </c:pt>
                <c:pt idx="3">
                  <c:v>W004</c:v>
                </c:pt>
                <c:pt idx="4">
                  <c:v>W005</c:v>
                </c:pt>
                <c:pt idx="5">
                  <c:v>W006</c:v>
                </c:pt>
                <c:pt idx="6">
                  <c:v>W007</c:v>
                </c:pt>
                <c:pt idx="7">
                  <c:v>W008</c:v>
                </c:pt>
                <c:pt idx="8">
                  <c:v>W009</c:v>
                </c:pt>
                <c:pt idx="9">
                  <c:v>W010</c:v>
                </c:pt>
              </c:strCache>
            </c:strRef>
          </c:cat>
          <c:val>
            <c:numRef>
              <c:f>Sheet1!$C$3:$C$12</c:f>
              <c:numCache>
                <c:formatCode>General</c:formatCode>
                <c:ptCount val="10"/>
                <c:pt idx="0">
                  <c:v>96</c:v>
                </c:pt>
                <c:pt idx="1">
                  <c:v>91</c:v>
                </c:pt>
                <c:pt idx="2">
                  <c:v>100</c:v>
                </c:pt>
                <c:pt idx="3">
                  <c:v>85</c:v>
                </c:pt>
                <c:pt idx="4">
                  <c:v>94</c:v>
                </c:pt>
                <c:pt idx="5">
                  <c:v>94</c:v>
                </c:pt>
                <c:pt idx="6">
                  <c:v>94</c:v>
                </c:pt>
                <c:pt idx="7">
                  <c:v>100</c:v>
                </c:pt>
                <c:pt idx="8">
                  <c:v>84</c:v>
                </c:pt>
                <c:pt idx="9">
                  <c:v>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D82-4570-AA5A-56BD61BA1F0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263748368"/>
        <c:axId val="1263756528"/>
      </c:barChart>
      <c:catAx>
        <c:axId val="12637483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63756528"/>
        <c:crosses val="autoZero"/>
        <c:auto val="1"/>
        <c:lblAlgn val="ctr"/>
        <c:lblOffset val="100"/>
        <c:noMultiLvlLbl val="0"/>
      </c:catAx>
      <c:valAx>
        <c:axId val="1263756528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26374836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10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en-US" sz="1000" b="0" i="0" u="none" strike="noStrike" kern="1200" baseline="0">
          <a:solidFill>
            <a:schemeClr val="tx1"/>
          </a:solidFill>
          <a:latin typeface="+mn-lt"/>
          <a:ea typeface="+mn-ea"/>
          <a:cs typeface="+mn-cs"/>
        </a:defRPr>
      </a:pPr>
      <a:endParaRPr lang="en-US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en-US" sz="1200" b="1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GB" sz="1100" b="1" i="0" u="none" strike="noStrike" baseline="0" dirty="0">
                <a:solidFill>
                  <a:schemeClr val="tx1"/>
                </a:solidFill>
              </a:rPr>
              <a:t>Warehouses where Average Delay Exceeds Global Average Delay</a:t>
            </a:r>
            <a:endParaRPr lang="en-IN" sz="1100" b="1" dirty="0">
              <a:solidFill>
                <a:schemeClr val="tx1"/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1200" b="1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Sheet1!$B$2</c:f>
              <c:strCache>
                <c:ptCount val="1"/>
                <c:pt idx="0">
                  <c:v>Avg_Delay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lang="en-US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Sheet1!$A$3:$A$8</c:f>
              <c:strCache>
                <c:ptCount val="6"/>
                <c:pt idx="0">
                  <c:v>W003</c:v>
                </c:pt>
                <c:pt idx="1">
                  <c:v>W004</c:v>
                </c:pt>
                <c:pt idx="2">
                  <c:v>W005</c:v>
                </c:pt>
                <c:pt idx="3">
                  <c:v>W007</c:v>
                </c:pt>
                <c:pt idx="4">
                  <c:v>W008</c:v>
                </c:pt>
                <c:pt idx="5">
                  <c:v>W010</c:v>
                </c:pt>
              </c:strCache>
            </c:strRef>
          </c:cat>
          <c:val>
            <c:numRef>
              <c:f>Sheet1!$B$3:$B$8</c:f>
              <c:numCache>
                <c:formatCode>0.0</c:formatCode>
                <c:ptCount val="6"/>
                <c:pt idx="0">
                  <c:v>25.543925233644799</c:v>
                </c:pt>
                <c:pt idx="1">
                  <c:v>25.88</c:v>
                </c:pt>
                <c:pt idx="2">
                  <c:v>22.4343137254901</c:v>
                </c:pt>
                <c:pt idx="3">
                  <c:v>22.061458333333299</c:v>
                </c:pt>
                <c:pt idx="4">
                  <c:v>24.352678571428498</c:v>
                </c:pt>
                <c:pt idx="5">
                  <c:v>21.803883495145602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8CC-4BCE-A15D-8FF50B9C06EE}"/>
            </c:ext>
          </c:extLst>
        </c:ser>
        <c:ser>
          <c:idx val="1"/>
          <c:order val="1"/>
          <c:tx>
            <c:strRef>
              <c:f>Sheet1!$C$2</c:f>
              <c:strCache>
                <c:ptCount val="1"/>
                <c:pt idx="0">
                  <c:v>Global_Avg_Delay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lang="en-US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Sheet1!$A$3:$A$8</c:f>
              <c:strCache>
                <c:ptCount val="6"/>
                <c:pt idx="0">
                  <c:v>W003</c:v>
                </c:pt>
                <c:pt idx="1">
                  <c:v>W004</c:v>
                </c:pt>
                <c:pt idx="2">
                  <c:v>W005</c:v>
                </c:pt>
                <c:pt idx="3">
                  <c:v>W007</c:v>
                </c:pt>
                <c:pt idx="4">
                  <c:v>W008</c:v>
                </c:pt>
                <c:pt idx="5">
                  <c:v>W010</c:v>
                </c:pt>
              </c:strCache>
            </c:strRef>
          </c:cat>
          <c:val>
            <c:numRef>
              <c:f>Sheet1!$C$3:$C$8</c:f>
              <c:numCache>
                <c:formatCode>#.0</c:formatCode>
                <c:ptCount val="6"/>
                <c:pt idx="0">
                  <c:v>21.408000000000001</c:v>
                </c:pt>
                <c:pt idx="1">
                  <c:v>21.408000000000001</c:v>
                </c:pt>
                <c:pt idx="2">
                  <c:v>21.408000000000001</c:v>
                </c:pt>
                <c:pt idx="3">
                  <c:v>21.408000000000001</c:v>
                </c:pt>
                <c:pt idx="4">
                  <c:v>21.408000000000001</c:v>
                </c:pt>
                <c:pt idx="5">
                  <c:v>21.408000000000001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8CC-4BCE-A15D-8FF50B9C06EE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271848960"/>
        <c:axId val="1271841280"/>
      </c:barChart>
      <c:catAx>
        <c:axId val="127184896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71841280"/>
        <c:crosses val="autoZero"/>
        <c:auto val="1"/>
        <c:lblAlgn val="ctr"/>
        <c:lblOffset val="100"/>
        <c:noMultiLvlLbl val="0"/>
      </c:catAx>
      <c:valAx>
        <c:axId val="1271841280"/>
        <c:scaling>
          <c:orientation val="minMax"/>
        </c:scaling>
        <c:delete val="1"/>
        <c:axPos val="l"/>
        <c:numFmt formatCode="0.0" sourceLinked="1"/>
        <c:majorTickMark val="none"/>
        <c:minorTickMark val="none"/>
        <c:tickLblPos val="nextTo"/>
        <c:crossAx val="127184896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10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en-US" sz="1000" b="0" i="0" u="none" strike="noStrike" kern="1200" baseline="0">
          <a:solidFill>
            <a:schemeClr val="tx1"/>
          </a:solidFill>
          <a:latin typeface="+mn-lt"/>
          <a:ea typeface="+mn-ea"/>
          <a:cs typeface="+mn-cs"/>
        </a:defRPr>
      </a:pPr>
      <a:endParaRPr lang="en-US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en-US" sz="1400" b="1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 sz="1400" b="1" dirty="0"/>
              <a:t>On</a:t>
            </a:r>
            <a:r>
              <a:rPr lang="en-US" sz="1400" b="1" baseline="0" dirty="0"/>
              <a:t> </a:t>
            </a:r>
            <a:r>
              <a:rPr lang="en-US" sz="1400" b="1" dirty="0"/>
              <a:t>Time</a:t>
            </a:r>
            <a:r>
              <a:rPr lang="en-US" sz="1400" b="1" baseline="0" dirty="0"/>
              <a:t> </a:t>
            </a:r>
            <a:r>
              <a:rPr lang="en-US" sz="1400" b="1" dirty="0"/>
              <a:t>Delivery</a:t>
            </a:r>
            <a:r>
              <a:rPr lang="en-US" sz="1400" b="1" baseline="0" dirty="0"/>
              <a:t> </a:t>
            </a:r>
            <a:r>
              <a:rPr lang="en-US" sz="1400" b="1" dirty="0"/>
              <a:t>Percentage of each</a:t>
            </a:r>
            <a:r>
              <a:rPr lang="en-US" sz="1400" b="1" baseline="0" dirty="0"/>
              <a:t> Agent</a:t>
            </a:r>
            <a:endParaRPr lang="en-US" sz="1400" b="1" dirty="0"/>
          </a:p>
        </c:rich>
      </c:tx>
      <c:layout>
        <c:manualLayout>
          <c:xMode val="edge"/>
          <c:yMode val="edge"/>
          <c:x val="0.35541144647403594"/>
          <c:y val="2.8857389065281069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1400" b="1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1.6545274233491288E-2"/>
          <c:y val="2.9941217807003599E-2"/>
          <c:w val="0.97799483087227945"/>
          <c:h val="0.840873115610108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Sheet2!$B$1</c:f>
              <c:strCache>
                <c:ptCount val="1"/>
                <c:pt idx="0">
                  <c:v>On_Time_Delivery_Percentage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Sheet2!$A$2:$A$51</c:f>
              <c:strCache>
                <c:ptCount val="50"/>
                <c:pt idx="0">
                  <c:v>A0014</c:v>
                </c:pt>
                <c:pt idx="1">
                  <c:v>A0019</c:v>
                </c:pt>
                <c:pt idx="2">
                  <c:v>A0002</c:v>
                </c:pt>
                <c:pt idx="3">
                  <c:v>A0043</c:v>
                </c:pt>
                <c:pt idx="4">
                  <c:v>A0009</c:v>
                </c:pt>
                <c:pt idx="5">
                  <c:v>A0018</c:v>
                </c:pt>
                <c:pt idx="6">
                  <c:v>A0028</c:v>
                </c:pt>
                <c:pt idx="7">
                  <c:v>A0008</c:v>
                </c:pt>
                <c:pt idx="8">
                  <c:v>A0042</c:v>
                </c:pt>
                <c:pt idx="9">
                  <c:v>A0025</c:v>
                </c:pt>
                <c:pt idx="10">
                  <c:v>A0030</c:v>
                </c:pt>
                <c:pt idx="11">
                  <c:v>A0038</c:v>
                </c:pt>
                <c:pt idx="12">
                  <c:v>A0034</c:v>
                </c:pt>
                <c:pt idx="13">
                  <c:v>A0001</c:v>
                </c:pt>
                <c:pt idx="14">
                  <c:v>A0045</c:v>
                </c:pt>
                <c:pt idx="15">
                  <c:v>A0010</c:v>
                </c:pt>
                <c:pt idx="16">
                  <c:v>A0012</c:v>
                </c:pt>
                <c:pt idx="17">
                  <c:v>A0017</c:v>
                </c:pt>
                <c:pt idx="18">
                  <c:v>A0023</c:v>
                </c:pt>
                <c:pt idx="19">
                  <c:v>A0026</c:v>
                </c:pt>
                <c:pt idx="20">
                  <c:v>A0027</c:v>
                </c:pt>
                <c:pt idx="21">
                  <c:v>A0036</c:v>
                </c:pt>
                <c:pt idx="22">
                  <c:v>A0049</c:v>
                </c:pt>
                <c:pt idx="23">
                  <c:v>A0016</c:v>
                </c:pt>
                <c:pt idx="24">
                  <c:v>A0033</c:v>
                </c:pt>
                <c:pt idx="25">
                  <c:v>A0035</c:v>
                </c:pt>
                <c:pt idx="26">
                  <c:v>A0039</c:v>
                </c:pt>
                <c:pt idx="27">
                  <c:v>A0040</c:v>
                </c:pt>
                <c:pt idx="28">
                  <c:v>A0024</c:v>
                </c:pt>
                <c:pt idx="29">
                  <c:v>A0031</c:v>
                </c:pt>
                <c:pt idx="30">
                  <c:v>A0004</c:v>
                </c:pt>
                <c:pt idx="31">
                  <c:v>A0032</c:v>
                </c:pt>
                <c:pt idx="32">
                  <c:v>A0050</c:v>
                </c:pt>
                <c:pt idx="33">
                  <c:v>A0029</c:v>
                </c:pt>
                <c:pt idx="34">
                  <c:v>A0048</c:v>
                </c:pt>
                <c:pt idx="35">
                  <c:v>A0007</c:v>
                </c:pt>
                <c:pt idx="36">
                  <c:v>A0003</c:v>
                </c:pt>
                <c:pt idx="37">
                  <c:v>A0005</c:v>
                </c:pt>
                <c:pt idx="38">
                  <c:v>A0006</c:v>
                </c:pt>
                <c:pt idx="39">
                  <c:v>A0011</c:v>
                </c:pt>
                <c:pt idx="40">
                  <c:v>A0013</c:v>
                </c:pt>
                <c:pt idx="41">
                  <c:v>A0015</c:v>
                </c:pt>
                <c:pt idx="42">
                  <c:v>A0020</c:v>
                </c:pt>
                <c:pt idx="43">
                  <c:v>A0021</c:v>
                </c:pt>
                <c:pt idx="44">
                  <c:v>A0022</c:v>
                </c:pt>
                <c:pt idx="45">
                  <c:v>A0037</c:v>
                </c:pt>
                <c:pt idx="46">
                  <c:v>A0041</c:v>
                </c:pt>
                <c:pt idx="47">
                  <c:v>A0044</c:v>
                </c:pt>
                <c:pt idx="48">
                  <c:v>A0046</c:v>
                </c:pt>
                <c:pt idx="49">
                  <c:v>A0047</c:v>
                </c:pt>
              </c:strCache>
            </c:strRef>
          </c:cat>
          <c:val>
            <c:numRef>
              <c:f>Sheet2!$B$2:$B$51</c:f>
              <c:numCache>
                <c:formatCode>#.0</c:formatCode>
                <c:ptCount val="50"/>
                <c:pt idx="0">
                  <c:v>23.8095</c:v>
                </c:pt>
                <c:pt idx="1">
                  <c:v>21.739100000000001</c:v>
                </c:pt>
                <c:pt idx="2">
                  <c:v>20</c:v>
                </c:pt>
                <c:pt idx="3">
                  <c:v>18.75</c:v>
                </c:pt>
                <c:pt idx="4">
                  <c:v>17.391300000000001</c:v>
                </c:pt>
                <c:pt idx="5">
                  <c:v>15.384600000000001</c:v>
                </c:pt>
                <c:pt idx="6">
                  <c:v>14.2857</c:v>
                </c:pt>
                <c:pt idx="7">
                  <c:v>13.6364</c:v>
                </c:pt>
                <c:pt idx="8">
                  <c:v>13.6364</c:v>
                </c:pt>
                <c:pt idx="9">
                  <c:v>12.5</c:v>
                </c:pt>
                <c:pt idx="10">
                  <c:v>11.1111</c:v>
                </c:pt>
                <c:pt idx="11">
                  <c:v>11.1111</c:v>
                </c:pt>
                <c:pt idx="12">
                  <c:v>9.5237999999999996</c:v>
                </c:pt>
                <c:pt idx="13">
                  <c:v>8.3332999999999995</c:v>
                </c:pt>
                <c:pt idx="14">
                  <c:v>8.3332999999999995</c:v>
                </c:pt>
                <c:pt idx="15">
                  <c:v>7.6923000000000004</c:v>
                </c:pt>
                <c:pt idx="16">
                  <c:v>7.4074</c:v>
                </c:pt>
                <c:pt idx="17">
                  <c:v>7.4074</c:v>
                </c:pt>
                <c:pt idx="18">
                  <c:v>6.8966000000000003</c:v>
                </c:pt>
                <c:pt idx="19">
                  <c:v>6.6666999999999996</c:v>
                </c:pt>
                <c:pt idx="20">
                  <c:v>6.25</c:v>
                </c:pt>
                <c:pt idx="21">
                  <c:v>6.25</c:v>
                </c:pt>
                <c:pt idx="22">
                  <c:v>6.25</c:v>
                </c:pt>
                <c:pt idx="23">
                  <c:v>5.8823999999999996</c:v>
                </c:pt>
                <c:pt idx="24">
                  <c:v>5.8823999999999996</c:v>
                </c:pt>
                <c:pt idx="25">
                  <c:v>5.8823999999999996</c:v>
                </c:pt>
                <c:pt idx="26">
                  <c:v>5.5556000000000001</c:v>
                </c:pt>
                <c:pt idx="27">
                  <c:v>5.5556000000000001</c:v>
                </c:pt>
                <c:pt idx="28">
                  <c:v>5</c:v>
                </c:pt>
                <c:pt idx="29">
                  <c:v>5</c:v>
                </c:pt>
                <c:pt idx="30">
                  <c:v>4.7618999999999998</c:v>
                </c:pt>
                <c:pt idx="31">
                  <c:v>4.7618999999999998</c:v>
                </c:pt>
                <c:pt idx="32">
                  <c:v>4.7618999999999998</c:v>
                </c:pt>
                <c:pt idx="33">
                  <c:v>4.1666999999999996</c:v>
                </c:pt>
                <c:pt idx="34">
                  <c:v>3.8462000000000001</c:v>
                </c:pt>
                <c:pt idx="35">
                  <c:v>3.7037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C17-42C6-AA3D-CB2C66078C65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350119488"/>
        <c:axId val="1350137728"/>
      </c:barChart>
      <c:catAx>
        <c:axId val="135011948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50137728"/>
        <c:crosses val="autoZero"/>
        <c:auto val="1"/>
        <c:lblAlgn val="ctr"/>
        <c:lblOffset val="100"/>
        <c:noMultiLvlLbl val="0"/>
      </c:catAx>
      <c:valAx>
        <c:axId val="1350137728"/>
        <c:scaling>
          <c:orientation val="minMax"/>
        </c:scaling>
        <c:delete val="1"/>
        <c:axPos val="l"/>
        <c:numFmt formatCode="#.0" sourceLinked="1"/>
        <c:majorTickMark val="none"/>
        <c:minorTickMark val="none"/>
        <c:tickLblPos val="nextTo"/>
        <c:crossAx val="135011948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lang="en-US" sz="1000" b="0" i="0" u="none" strike="noStrike" kern="1200" baseline="0">
          <a:solidFill>
            <a:schemeClr val="tx1"/>
          </a:solidFill>
          <a:latin typeface="+mn-lt"/>
          <a:ea typeface="+mn-ea"/>
          <a:cs typeface="+mn-cs"/>
        </a:defRPr>
      </a:pPr>
      <a:endParaRPr lang="en-US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en-US" sz="1200" b="1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GB" b="1"/>
              <a:t>Avg Rating &amp; Experience of Top 5 vs Bottom 5 Agents</a:t>
            </a:r>
            <a:endParaRPr lang="en-IN" b="1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1200" b="1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Sheet1!$B$2</c:f>
              <c:strCache>
                <c:ptCount val="1"/>
                <c:pt idx="0">
                  <c:v>Avg_Rating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lang="en-US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Sheet1!$A$3:$A$4</c:f>
              <c:strCache>
                <c:ptCount val="2"/>
                <c:pt idx="0">
                  <c:v>Top 5 Agents</c:v>
                </c:pt>
                <c:pt idx="1">
                  <c:v>Bottom 5 Agents</c:v>
                </c:pt>
              </c:strCache>
            </c:strRef>
          </c:cat>
          <c:val>
            <c:numRef>
              <c:f>Sheet1!$B$3:$B$4</c:f>
              <c:numCache>
                <c:formatCode>General</c:formatCode>
                <c:ptCount val="2"/>
                <c:pt idx="0" formatCode="#.00">
                  <c:v>4.42</c:v>
                </c:pt>
                <c:pt idx="1">
                  <c:v>4.5199999999999996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886-4DBB-A764-80E8104C6561}"/>
            </c:ext>
          </c:extLst>
        </c:ser>
        <c:ser>
          <c:idx val="1"/>
          <c:order val="1"/>
          <c:tx>
            <c:strRef>
              <c:f>Sheet1!$C$2</c:f>
              <c:strCache>
                <c:ptCount val="1"/>
                <c:pt idx="0">
                  <c:v>Avg_Experience_Years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lang="en-US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Sheet1!$A$3:$A$4</c:f>
              <c:strCache>
                <c:ptCount val="2"/>
                <c:pt idx="0">
                  <c:v>Top 5 Agents</c:v>
                </c:pt>
                <c:pt idx="1">
                  <c:v>Bottom 5 Agents</c:v>
                </c:pt>
              </c:strCache>
            </c:strRef>
          </c:cat>
          <c:val>
            <c:numRef>
              <c:f>Sheet1!$C$3:$C$4</c:f>
              <c:numCache>
                <c:formatCode>0.00</c:formatCode>
                <c:ptCount val="2"/>
                <c:pt idx="0" formatCode="#.00">
                  <c:v>2.34</c:v>
                </c:pt>
                <c:pt idx="1">
                  <c:v>2.3999999999999901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886-4DBB-A764-80E8104C656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350108448"/>
        <c:axId val="1350099808"/>
      </c:barChart>
      <c:catAx>
        <c:axId val="13501084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50099808"/>
        <c:crosses val="autoZero"/>
        <c:auto val="1"/>
        <c:lblAlgn val="ctr"/>
        <c:lblOffset val="100"/>
        <c:noMultiLvlLbl val="0"/>
      </c:catAx>
      <c:valAx>
        <c:axId val="1350099808"/>
        <c:scaling>
          <c:orientation val="minMax"/>
        </c:scaling>
        <c:delete val="1"/>
        <c:axPos val="l"/>
        <c:numFmt formatCode="#.00" sourceLinked="1"/>
        <c:majorTickMark val="none"/>
        <c:minorTickMark val="none"/>
        <c:tickLblPos val="nextTo"/>
        <c:crossAx val="135010844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10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en-US" sz="1000" b="0" i="0" u="none" strike="noStrike" kern="1200" baseline="0">
          <a:solidFill>
            <a:schemeClr val="tx1"/>
          </a:solidFill>
          <a:latin typeface="+mn-lt"/>
          <a:ea typeface="+mn-ea"/>
          <a:cs typeface="+mn-cs"/>
        </a:defRPr>
      </a:pPr>
      <a:endParaRPr lang="en-US"/>
    </a:p>
  </c:txPr>
  <c:externalData r:id="rId3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en-US" sz="1200" b="1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 b="1" dirty="0"/>
              <a:t>Delivery</a:t>
            </a:r>
            <a:r>
              <a:rPr lang="en-US" b="1" baseline="0" dirty="0"/>
              <a:t> Status of Shipment</a:t>
            </a:r>
            <a:endParaRPr lang="en-US" b="1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1200" b="1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Sheet1!$B$2</c:f>
              <c:strCache>
                <c:ptCount val="1"/>
                <c:pt idx="0">
                  <c:v>count(Shipment_ID)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209C-41AE-8FDC-2E8987BD6712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209C-41AE-8FDC-2E8987BD6712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209C-41AE-8FDC-2E8987BD6712}"/>
              </c:ext>
            </c:extLst>
          </c:dPt>
          <c:dLbls>
            <c:dLbl>
              <c:idx val="0"/>
              <c:layout>
                <c:manualLayout>
                  <c:x val="0.13422942156355908"/>
                  <c:y val="-0.10648148148148157"/>
                </c:manualLayout>
              </c:layout>
              <c:dLblPos val="bestFit"/>
              <c:showLegendKey val="0"/>
              <c:showVal val="1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209C-41AE-8FDC-2E8987BD6712}"/>
                </c:ext>
              </c:extLst>
            </c:dLbl>
            <c:dLbl>
              <c:idx val="1"/>
              <c:layout>
                <c:manualLayout>
                  <c:x val="-3.5016370842667587E-2"/>
                  <c:y val="3.2407407407407406E-2"/>
                </c:manualLayout>
              </c:layout>
              <c:dLblPos val="bestFit"/>
              <c:showLegendKey val="0"/>
              <c:showVal val="1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209C-41AE-8FDC-2E8987BD6712}"/>
                </c:ext>
              </c:extLst>
            </c:dLbl>
            <c:dLbl>
              <c:idx val="2"/>
              <c:layout>
                <c:manualLayout>
                  <c:x val="0"/>
                  <c:y val="-2.3148148148148168E-2"/>
                </c:manualLayout>
              </c:layout>
              <c:dLblPos val="bestFit"/>
              <c:showLegendKey val="0"/>
              <c:showVal val="1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209C-41AE-8FDC-2E8987BD671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lang="en-US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Sheet1!$A$3:$A$5</c:f>
              <c:strCache>
                <c:ptCount val="3"/>
                <c:pt idx="0">
                  <c:v>Delivered</c:v>
                </c:pt>
                <c:pt idx="1">
                  <c:v>Returned</c:v>
                </c:pt>
                <c:pt idx="2">
                  <c:v>In Transit</c:v>
                </c:pt>
              </c:strCache>
            </c:strRef>
          </c:cat>
          <c:val>
            <c:numRef>
              <c:f>Sheet1!$B$3:$B$5</c:f>
              <c:numCache>
                <c:formatCode>General</c:formatCode>
                <c:ptCount val="3"/>
                <c:pt idx="0">
                  <c:v>895</c:v>
                </c:pt>
                <c:pt idx="1">
                  <c:v>18</c:v>
                </c:pt>
                <c:pt idx="2">
                  <c:v>87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209C-41AE-8FDC-2E8987BD671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10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lang="en-US" sz="1000" b="0" i="0" u="none" strike="noStrike" kern="1200" baseline="0">
          <a:solidFill>
            <a:schemeClr val="tx1"/>
          </a:solidFill>
          <a:latin typeface="+mn-lt"/>
          <a:ea typeface="+mn-ea"/>
          <a:cs typeface="+mn-cs"/>
        </a:defRPr>
      </a:pPr>
      <a:endParaRPr lang="en-US"/>
    </a:p>
  </c:txPr>
  <c:externalData r:id="rId3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1" i="0" u="none" strike="noStrike" kern="1200" cap="all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 sz="1100" dirty="0">
                <a:solidFill>
                  <a:schemeClr val="tx1"/>
                </a:solidFill>
              </a:rPr>
              <a:t>frequent delay reasons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1" i="0" u="none" strike="noStrike" kern="1200" cap="all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Sheet1!$B$2</c:f>
              <c:strCache>
                <c:ptCount val="1"/>
                <c:pt idx="0">
                  <c:v>Frequency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550E-4622-829E-92060D67B8BE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550E-4622-829E-92060D67B8BE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5-550E-4622-829E-92060D67B8BE}"/>
              </c:ext>
            </c:extLst>
          </c:dPt>
          <c:dLbls>
            <c:dLbl>
              <c:idx val="0"/>
              <c:layout>
                <c:manualLayout>
                  <c:x val="1.1402754258973609E-2"/>
                  <c:y val="0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spc="0" baseline="0">
                      <a:solidFill>
                        <a:schemeClr val="accent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bestFit"/>
              <c:showLegendKey val="0"/>
              <c:showVal val="1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550E-4622-829E-92060D67B8BE}"/>
                </c:ext>
              </c:extLst>
            </c:dLbl>
            <c:dLbl>
              <c:idx val="1"/>
              <c:layout>
                <c:manualLayout>
                  <c:x val="-3.8009180863245368E-2"/>
                  <c:y val="-3.7222552763701268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spc="0" baseline="0">
                      <a:solidFill>
                        <a:schemeClr val="accent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bestFit"/>
              <c:showLegendKey val="0"/>
              <c:showVal val="1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550E-4622-829E-92060D67B8BE}"/>
                </c:ext>
              </c:extLst>
            </c:dLbl>
            <c:dLbl>
              <c:idx val="2"/>
              <c:layout>
                <c:manualLayout>
                  <c:x val="-7.9819279812815253E-2"/>
                  <c:y val="0.11632047738656645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spc="0" baseline="0">
                      <a:solidFill>
                        <a:schemeClr val="accent3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bestFit"/>
              <c:showLegendKey val="0"/>
              <c:showVal val="1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550E-4622-829E-92060D67B8BE}"/>
                </c:ext>
              </c:extLst>
            </c:dLbl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1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Sheet1!$A$3:$A$5</c:f>
              <c:strCache>
                <c:ptCount val="3"/>
                <c:pt idx="0">
                  <c:v>Traffic</c:v>
                </c:pt>
                <c:pt idx="1">
                  <c:v>Weather</c:v>
                </c:pt>
                <c:pt idx="2">
                  <c:v>Technical Issue</c:v>
                </c:pt>
              </c:strCache>
            </c:strRef>
          </c:cat>
          <c:val>
            <c:numRef>
              <c:f>Sheet1!$B$3:$B$5</c:f>
              <c:numCache>
                <c:formatCode>General</c:formatCode>
                <c:ptCount val="3"/>
                <c:pt idx="0">
                  <c:v>474</c:v>
                </c:pt>
                <c:pt idx="1">
                  <c:v>292</c:v>
                </c:pt>
                <c:pt idx="2">
                  <c:v>166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550E-4622-829E-92060D67B8BE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en-US" sz="1200" b="1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GB" sz="1200" b="1" i="0" u="none" strike="noStrike" baseline="0" dirty="0">
                <a:solidFill>
                  <a:schemeClr val="tx1"/>
                </a:solidFill>
              </a:rPr>
              <a:t>Orders with Exceptionally High Delay (&gt;120 Hours)</a:t>
            </a:r>
            <a:endParaRPr lang="en-US" b="1" dirty="0">
              <a:solidFill>
                <a:schemeClr val="tx1"/>
              </a:solidFill>
            </a:endParaRPr>
          </a:p>
        </c:rich>
      </c:tx>
      <c:layout>
        <c:manualLayout>
          <c:xMode val="edge"/>
          <c:yMode val="edge"/>
          <c:x val="0.29924212598425198"/>
          <c:y val="0.12417551502394845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1200" b="1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Sheet1!$B$2</c:f>
              <c:strCache>
                <c:ptCount val="1"/>
                <c:pt idx="0">
                  <c:v>Delay_Hours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Sheet1!$A$3:$A$54</c:f>
              <c:strCache>
                <c:ptCount val="52"/>
                <c:pt idx="0">
                  <c:v>O0093</c:v>
                </c:pt>
                <c:pt idx="1">
                  <c:v>O0133</c:v>
                </c:pt>
                <c:pt idx="2">
                  <c:v>O0039</c:v>
                </c:pt>
                <c:pt idx="3">
                  <c:v>O0143</c:v>
                </c:pt>
                <c:pt idx="4">
                  <c:v>O0094</c:v>
                </c:pt>
                <c:pt idx="5">
                  <c:v>O0197</c:v>
                </c:pt>
                <c:pt idx="6">
                  <c:v>O0103</c:v>
                </c:pt>
                <c:pt idx="7">
                  <c:v>O0241</c:v>
                </c:pt>
                <c:pt idx="8">
                  <c:v>O0149</c:v>
                </c:pt>
                <c:pt idx="9">
                  <c:v>O0095</c:v>
                </c:pt>
                <c:pt idx="10">
                  <c:v>O0181</c:v>
                </c:pt>
                <c:pt idx="11">
                  <c:v>O0203</c:v>
                </c:pt>
                <c:pt idx="12">
                  <c:v>O0214</c:v>
                </c:pt>
                <c:pt idx="13">
                  <c:v>O0196</c:v>
                </c:pt>
                <c:pt idx="14">
                  <c:v>O0252</c:v>
                </c:pt>
                <c:pt idx="15">
                  <c:v>O0245</c:v>
                </c:pt>
                <c:pt idx="16">
                  <c:v>O0223</c:v>
                </c:pt>
                <c:pt idx="17">
                  <c:v>O0038</c:v>
                </c:pt>
                <c:pt idx="18">
                  <c:v>O0084</c:v>
                </c:pt>
                <c:pt idx="19">
                  <c:v>O0142</c:v>
                </c:pt>
                <c:pt idx="20">
                  <c:v>O0181</c:v>
                </c:pt>
                <c:pt idx="21">
                  <c:v>O0153</c:v>
                </c:pt>
                <c:pt idx="22">
                  <c:v>O0153</c:v>
                </c:pt>
                <c:pt idx="23">
                  <c:v>O0076</c:v>
                </c:pt>
                <c:pt idx="24">
                  <c:v>O0262</c:v>
                </c:pt>
                <c:pt idx="25">
                  <c:v>O0197</c:v>
                </c:pt>
                <c:pt idx="26">
                  <c:v>O0191</c:v>
                </c:pt>
                <c:pt idx="27">
                  <c:v>O0156</c:v>
                </c:pt>
                <c:pt idx="28">
                  <c:v>O0233</c:v>
                </c:pt>
                <c:pt idx="29">
                  <c:v>O0117</c:v>
                </c:pt>
                <c:pt idx="30">
                  <c:v>O0235</c:v>
                </c:pt>
                <c:pt idx="31">
                  <c:v>O0103</c:v>
                </c:pt>
                <c:pt idx="32">
                  <c:v>O0173</c:v>
                </c:pt>
                <c:pt idx="33">
                  <c:v>O0256</c:v>
                </c:pt>
                <c:pt idx="34">
                  <c:v>O0104</c:v>
                </c:pt>
                <c:pt idx="35">
                  <c:v>O0271</c:v>
                </c:pt>
                <c:pt idx="36">
                  <c:v>O0164</c:v>
                </c:pt>
                <c:pt idx="37">
                  <c:v>O0165</c:v>
                </c:pt>
                <c:pt idx="38">
                  <c:v>O0195</c:v>
                </c:pt>
                <c:pt idx="39">
                  <c:v>O0274</c:v>
                </c:pt>
                <c:pt idx="40">
                  <c:v>O0170</c:v>
                </c:pt>
                <c:pt idx="41">
                  <c:v>O0072</c:v>
                </c:pt>
                <c:pt idx="42">
                  <c:v>O0212</c:v>
                </c:pt>
                <c:pt idx="43">
                  <c:v>O0022</c:v>
                </c:pt>
                <c:pt idx="44">
                  <c:v>O0098</c:v>
                </c:pt>
                <c:pt idx="45">
                  <c:v>O0107</c:v>
                </c:pt>
                <c:pt idx="46">
                  <c:v>O0003</c:v>
                </c:pt>
                <c:pt idx="47">
                  <c:v>O0148</c:v>
                </c:pt>
                <c:pt idx="48">
                  <c:v>O0167</c:v>
                </c:pt>
                <c:pt idx="49">
                  <c:v>O0161</c:v>
                </c:pt>
                <c:pt idx="50">
                  <c:v>O0070</c:v>
                </c:pt>
                <c:pt idx="51">
                  <c:v>O0007</c:v>
                </c:pt>
              </c:strCache>
            </c:strRef>
          </c:cat>
          <c:val>
            <c:numRef>
              <c:f>Sheet1!$B$3:$B$54</c:f>
              <c:numCache>
                <c:formatCode>#</c:formatCode>
                <c:ptCount val="52"/>
                <c:pt idx="0">
                  <c:v>238.6</c:v>
                </c:pt>
                <c:pt idx="1">
                  <c:v>238.6</c:v>
                </c:pt>
                <c:pt idx="2">
                  <c:v>232.6</c:v>
                </c:pt>
                <c:pt idx="3">
                  <c:v>232.3</c:v>
                </c:pt>
                <c:pt idx="4">
                  <c:v>230.1</c:v>
                </c:pt>
                <c:pt idx="5">
                  <c:v>230.1</c:v>
                </c:pt>
                <c:pt idx="6">
                  <c:v>228</c:v>
                </c:pt>
                <c:pt idx="7">
                  <c:v>226.1</c:v>
                </c:pt>
                <c:pt idx="8">
                  <c:v>223</c:v>
                </c:pt>
                <c:pt idx="9">
                  <c:v>220.8</c:v>
                </c:pt>
                <c:pt idx="10">
                  <c:v>219.2</c:v>
                </c:pt>
                <c:pt idx="11">
                  <c:v>218</c:v>
                </c:pt>
                <c:pt idx="12">
                  <c:v>213.1</c:v>
                </c:pt>
                <c:pt idx="13">
                  <c:v>212.8</c:v>
                </c:pt>
                <c:pt idx="14">
                  <c:v>211.6</c:v>
                </c:pt>
                <c:pt idx="15">
                  <c:v>210.9</c:v>
                </c:pt>
                <c:pt idx="16">
                  <c:v>209.8</c:v>
                </c:pt>
                <c:pt idx="17">
                  <c:v>206.4</c:v>
                </c:pt>
                <c:pt idx="18">
                  <c:v>205.7</c:v>
                </c:pt>
                <c:pt idx="19">
                  <c:v>197.6</c:v>
                </c:pt>
                <c:pt idx="20">
                  <c:v>197.3</c:v>
                </c:pt>
                <c:pt idx="21">
                  <c:v>195.3</c:v>
                </c:pt>
                <c:pt idx="22">
                  <c:v>194.6</c:v>
                </c:pt>
                <c:pt idx="23">
                  <c:v>193.7</c:v>
                </c:pt>
                <c:pt idx="24">
                  <c:v>189.2</c:v>
                </c:pt>
                <c:pt idx="25">
                  <c:v>187.9</c:v>
                </c:pt>
                <c:pt idx="26">
                  <c:v>185.5</c:v>
                </c:pt>
                <c:pt idx="27">
                  <c:v>183.4</c:v>
                </c:pt>
                <c:pt idx="28">
                  <c:v>180.6</c:v>
                </c:pt>
                <c:pt idx="29">
                  <c:v>172.8</c:v>
                </c:pt>
                <c:pt idx="30">
                  <c:v>172.5</c:v>
                </c:pt>
                <c:pt idx="31">
                  <c:v>171.6</c:v>
                </c:pt>
                <c:pt idx="32">
                  <c:v>170.8</c:v>
                </c:pt>
                <c:pt idx="33">
                  <c:v>165.7</c:v>
                </c:pt>
                <c:pt idx="34">
                  <c:v>163.19999999999999</c:v>
                </c:pt>
                <c:pt idx="35">
                  <c:v>160</c:v>
                </c:pt>
                <c:pt idx="36">
                  <c:v>158.19999999999999</c:v>
                </c:pt>
                <c:pt idx="37">
                  <c:v>153.69999999999999</c:v>
                </c:pt>
                <c:pt idx="38">
                  <c:v>152.30000000000001</c:v>
                </c:pt>
                <c:pt idx="39">
                  <c:v>152.1</c:v>
                </c:pt>
                <c:pt idx="40">
                  <c:v>151.69999999999999</c:v>
                </c:pt>
                <c:pt idx="41">
                  <c:v>151.6</c:v>
                </c:pt>
                <c:pt idx="42">
                  <c:v>150.19999999999999</c:v>
                </c:pt>
                <c:pt idx="43">
                  <c:v>150</c:v>
                </c:pt>
                <c:pt idx="44">
                  <c:v>141.5</c:v>
                </c:pt>
                <c:pt idx="45">
                  <c:v>138.69999999999999</c:v>
                </c:pt>
                <c:pt idx="46">
                  <c:v>138.5</c:v>
                </c:pt>
                <c:pt idx="47">
                  <c:v>138.4</c:v>
                </c:pt>
                <c:pt idx="48">
                  <c:v>129.19999999999999</c:v>
                </c:pt>
                <c:pt idx="49">
                  <c:v>129</c:v>
                </c:pt>
                <c:pt idx="50">
                  <c:v>122.2</c:v>
                </c:pt>
                <c:pt idx="51">
                  <c:v>121.8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1C9-4FED-8AA7-721658B9677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724075408"/>
        <c:axId val="1724057648"/>
      </c:barChart>
      <c:catAx>
        <c:axId val="17240754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24057648"/>
        <c:crosses val="autoZero"/>
        <c:auto val="1"/>
        <c:lblAlgn val="ctr"/>
        <c:lblOffset val="100"/>
        <c:noMultiLvlLbl val="0"/>
      </c:catAx>
      <c:valAx>
        <c:axId val="172405764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2407540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lang="en-US" sz="1000" b="0" i="0" u="none" strike="noStrike" kern="1200" baseline="0">
          <a:solidFill>
            <a:schemeClr val="tx1"/>
          </a:solidFill>
          <a:latin typeface="+mn-lt"/>
          <a:ea typeface="+mn-ea"/>
          <a:cs typeface="+mn-cs"/>
        </a:defRPr>
      </a:pPr>
      <a:endParaRPr lang="en-US"/>
    </a:p>
  </c:txPr>
  <c:externalData r:id="rId3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en-US" sz="1200" b="0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GB" sz="1200" b="1" i="0" u="none" strike="noStrike" kern="1200" spc="0" baseline="0" dirty="0">
                <a:solidFill>
                  <a:prstClr val="black"/>
                </a:solidFill>
              </a:rPr>
              <a:t>Average Delivery Delay per Source Country</a:t>
            </a:r>
            <a:endParaRPr lang="en-IN" sz="1200" dirty="0"/>
          </a:p>
        </c:rich>
      </c:tx>
      <c:layout>
        <c:manualLayout>
          <c:xMode val="edge"/>
          <c:yMode val="edge"/>
          <c:x val="0.29316328530347485"/>
          <c:y val="6.4814814814814811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1200" b="0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Sheet1!$A$3</c:f>
              <c:strCache>
                <c:ptCount val="1"/>
                <c:pt idx="0">
                  <c:v>UAE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Sheet1!$B$2</c:f>
              <c:strCache>
                <c:ptCount val="1"/>
                <c:pt idx="0">
                  <c:v>Avg_Delivery_Delay_Hours</c:v>
                </c:pt>
              </c:strCache>
            </c:strRef>
          </c:cat>
          <c:val>
            <c:numRef>
              <c:f>Sheet1!$B$3</c:f>
              <c:numCache>
                <c:formatCode>0.0</c:formatCode>
                <c:ptCount val="1"/>
                <c:pt idx="0">
                  <c:v>41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86F-473A-BF36-28051D05DE87}"/>
            </c:ext>
          </c:extLst>
        </c:ser>
        <c:ser>
          <c:idx val="1"/>
          <c:order val="1"/>
          <c:tx>
            <c:strRef>
              <c:f>Sheet1!$A$4</c:f>
              <c:strCache>
                <c:ptCount val="1"/>
                <c:pt idx="0">
                  <c:v>Turkey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Sheet1!$B$2</c:f>
              <c:strCache>
                <c:ptCount val="1"/>
                <c:pt idx="0">
                  <c:v>Avg_Delivery_Delay_Hours</c:v>
                </c:pt>
              </c:strCache>
            </c:strRef>
          </c:cat>
          <c:val>
            <c:numRef>
              <c:f>Sheet1!$B$4</c:f>
              <c:numCache>
                <c:formatCode>0.0</c:formatCode>
                <c:ptCount val="1"/>
                <c:pt idx="0">
                  <c:v>32.799999999999997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86F-473A-BF36-28051D05DE87}"/>
            </c:ext>
          </c:extLst>
        </c:ser>
        <c:ser>
          <c:idx val="2"/>
          <c:order val="2"/>
          <c:tx>
            <c:strRef>
              <c:f>Sheet1!$A$5</c:f>
              <c:strCache>
                <c:ptCount val="1"/>
                <c:pt idx="0">
                  <c:v>China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Sheet1!$B$2</c:f>
              <c:strCache>
                <c:ptCount val="1"/>
                <c:pt idx="0">
                  <c:v>Avg_Delivery_Delay_Hours</c:v>
                </c:pt>
              </c:strCache>
            </c:strRef>
          </c:cat>
          <c:val>
            <c:numRef>
              <c:f>Sheet1!$B$5</c:f>
              <c:numCache>
                <c:formatCode>0.0</c:formatCode>
                <c:ptCount val="1"/>
                <c:pt idx="0">
                  <c:v>32.5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186F-473A-BF36-28051D05DE87}"/>
            </c:ext>
          </c:extLst>
        </c:ser>
        <c:ser>
          <c:idx val="3"/>
          <c:order val="3"/>
          <c:tx>
            <c:strRef>
              <c:f>Sheet1!$A$6</c:f>
              <c:strCache>
                <c:ptCount val="1"/>
                <c:pt idx="0">
                  <c:v>Singapore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Sheet1!$B$2</c:f>
              <c:strCache>
                <c:ptCount val="1"/>
                <c:pt idx="0">
                  <c:v>Avg_Delivery_Delay_Hours</c:v>
                </c:pt>
              </c:strCache>
            </c:strRef>
          </c:cat>
          <c:val>
            <c:numRef>
              <c:f>Sheet1!$B$6</c:f>
              <c:numCache>
                <c:formatCode>0.0</c:formatCode>
                <c:ptCount val="1"/>
                <c:pt idx="0">
                  <c:v>32.200000000000003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186F-473A-BF36-28051D05DE87}"/>
            </c:ext>
          </c:extLst>
        </c:ser>
        <c:ser>
          <c:idx val="4"/>
          <c:order val="4"/>
          <c:tx>
            <c:strRef>
              <c:f>Sheet1!$A$7</c:f>
              <c:strCache>
                <c:ptCount val="1"/>
                <c:pt idx="0">
                  <c:v>UK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Sheet1!$B$2</c:f>
              <c:strCache>
                <c:ptCount val="1"/>
                <c:pt idx="0">
                  <c:v>Avg_Delivery_Delay_Hours</c:v>
                </c:pt>
              </c:strCache>
            </c:strRef>
          </c:cat>
          <c:val>
            <c:numRef>
              <c:f>Sheet1!$B$7</c:f>
              <c:numCache>
                <c:formatCode>0.0</c:formatCode>
                <c:ptCount val="1"/>
                <c:pt idx="0">
                  <c:v>29.9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186F-473A-BF36-28051D05DE87}"/>
            </c:ext>
          </c:extLst>
        </c:ser>
        <c:ser>
          <c:idx val="5"/>
          <c:order val="5"/>
          <c:tx>
            <c:strRef>
              <c:f>Sheet1!$A$8</c:f>
              <c:strCache>
                <c:ptCount val="1"/>
                <c:pt idx="0">
                  <c:v>France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Sheet1!$B$2</c:f>
              <c:strCache>
                <c:ptCount val="1"/>
                <c:pt idx="0">
                  <c:v>Avg_Delivery_Delay_Hours</c:v>
                </c:pt>
              </c:strCache>
            </c:strRef>
          </c:cat>
          <c:val>
            <c:numRef>
              <c:f>Sheet1!$B$8</c:f>
              <c:numCache>
                <c:formatCode>0.0</c:formatCode>
                <c:ptCount val="1"/>
                <c:pt idx="0">
                  <c:v>25.9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186F-473A-BF36-28051D05DE87}"/>
            </c:ext>
          </c:extLst>
        </c:ser>
        <c:ser>
          <c:idx val="6"/>
          <c:order val="6"/>
          <c:tx>
            <c:strRef>
              <c:f>Sheet1!$A$9</c:f>
              <c:strCache>
                <c:ptCount val="1"/>
                <c:pt idx="0">
                  <c:v>Brazil</c:v>
                </c:pt>
              </c:strCache>
            </c:strRef>
          </c:tx>
          <c:spPr>
            <a:solidFill>
              <a:schemeClr val="accent1">
                <a:lumMod val="6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Sheet1!$B$2</c:f>
              <c:strCache>
                <c:ptCount val="1"/>
                <c:pt idx="0">
                  <c:v>Avg_Delivery_Delay_Hours</c:v>
                </c:pt>
              </c:strCache>
            </c:strRef>
          </c:cat>
          <c:val>
            <c:numRef>
              <c:f>Sheet1!$B$9</c:f>
              <c:numCache>
                <c:formatCode>0.0</c:formatCode>
                <c:ptCount val="1"/>
                <c:pt idx="0">
                  <c:v>25.8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186F-473A-BF36-28051D05DE87}"/>
            </c:ext>
          </c:extLst>
        </c:ser>
        <c:ser>
          <c:idx val="7"/>
          <c:order val="7"/>
          <c:tx>
            <c:strRef>
              <c:f>Sheet1!$A$10</c:f>
              <c:strCache>
                <c:ptCount val="1"/>
                <c:pt idx="0">
                  <c:v>South Korea</c:v>
                </c:pt>
              </c:strCache>
            </c:strRef>
          </c:tx>
          <c:spPr>
            <a:solidFill>
              <a:schemeClr val="accent2">
                <a:lumMod val="6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Sheet1!$B$2</c:f>
              <c:strCache>
                <c:ptCount val="1"/>
                <c:pt idx="0">
                  <c:v>Avg_Delivery_Delay_Hours</c:v>
                </c:pt>
              </c:strCache>
            </c:strRef>
          </c:cat>
          <c:val>
            <c:numRef>
              <c:f>Sheet1!$B$10</c:f>
              <c:numCache>
                <c:formatCode>0.0</c:formatCode>
                <c:ptCount val="1"/>
                <c:pt idx="0">
                  <c:v>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186F-473A-BF36-28051D05DE87}"/>
            </c:ext>
          </c:extLst>
        </c:ser>
        <c:ser>
          <c:idx val="8"/>
          <c:order val="8"/>
          <c:tx>
            <c:strRef>
              <c:f>Sheet1!$A$11</c:f>
              <c:strCache>
                <c:ptCount val="1"/>
                <c:pt idx="0">
                  <c:v>Spain</c:v>
                </c:pt>
              </c:strCache>
            </c:strRef>
          </c:tx>
          <c:spPr>
            <a:solidFill>
              <a:schemeClr val="accent3">
                <a:lumMod val="6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Sheet1!$B$2</c:f>
              <c:strCache>
                <c:ptCount val="1"/>
                <c:pt idx="0">
                  <c:v>Avg_Delivery_Delay_Hours</c:v>
                </c:pt>
              </c:strCache>
            </c:strRef>
          </c:cat>
          <c:val>
            <c:numRef>
              <c:f>Sheet1!$B$11</c:f>
              <c:numCache>
                <c:formatCode>0.0</c:formatCode>
                <c:ptCount val="1"/>
                <c:pt idx="0">
                  <c:v>19.3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186F-473A-BF36-28051D05DE87}"/>
            </c:ext>
          </c:extLst>
        </c:ser>
        <c:ser>
          <c:idx val="9"/>
          <c:order val="9"/>
          <c:tx>
            <c:strRef>
              <c:f>Sheet1!$A$12</c:f>
              <c:strCache>
                <c:ptCount val="1"/>
                <c:pt idx="0">
                  <c:v>USA</c:v>
                </c:pt>
              </c:strCache>
            </c:strRef>
          </c:tx>
          <c:spPr>
            <a:solidFill>
              <a:schemeClr val="accent4">
                <a:lumMod val="6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Sheet1!$B$2</c:f>
              <c:strCache>
                <c:ptCount val="1"/>
                <c:pt idx="0">
                  <c:v>Avg_Delivery_Delay_Hours</c:v>
                </c:pt>
              </c:strCache>
            </c:strRef>
          </c:cat>
          <c:val>
            <c:numRef>
              <c:f>Sheet1!$B$12</c:f>
              <c:numCache>
                <c:formatCode>0.0</c:formatCode>
                <c:ptCount val="1"/>
                <c:pt idx="0">
                  <c:v>16.899999999999999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186F-473A-BF36-28051D05DE87}"/>
            </c:ext>
          </c:extLst>
        </c:ser>
        <c:ser>
          <c:idx val="10"/>
          <c:order val="10"/>
          <c:tx>
            <c:strRef>
              <c:f>Sheet1!$A$13</c:f>
              <c:strCache>
                <c:ptCount val="1"/>
                <c:pt idx="0">
                  <c:v>Netherlands</c:v>
                </c:pt>
              </c:strCache>
            </c:strRef>
          </c:tx>
          <c:spPr>
            <a:solidFill>
              <a:schemeClr val="accent5">
                <a:lumMod val="6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Sheet1!$B$2</c:f>
              <c:strCache>
                <c:ptCount val="1"/>
                <c:pt idx="0">
                  <c:v>Avg_Delivery_Delay_Hours</c:v>
                </c:pt>
              </c:strCache>
            </c:strRef>
          </c:cat>
          <c:val>
            <c:numRef>
              <c:f>Sheet1!$B$13</c:f>
              <c:numCache>
                <c:formatCode>0.0</c:formatCode>
                <c:ptCount val="1"/>
                <c:pt idx="0">
                  <c:v>15.2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186F-473A-BF36-28051D05DE87}"/>
            </c:ext>
          </c:extLst>
        </c:ser>
        <c:ser>
          <c:idx val="11"/>
          <c:order val="11"/>
          <c:tx>
            <c:strRef>
              <c:f>Sheet1!$A$14</c:f>
              <c:strCache>
                <c:ptCount val="1"/>
                <c:pt idx="0">
                  <c:v>Belgium</c:v>
                </c:pt>
              </c:strCache>
            </c:strRef>
          </c:tx>
          <c:spPr>
            <a:solidFill>
              <a:schemeClr val="accent6">
                <a:lumMod val="6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Sheet1!$B$2</c:f>
              <c:strCache>
                <c:ptCount val="1"/>
                <c:pt idx="0">
                  <c:v>Avg_Delivery_Delay_Hours</c:v>
                </c:pt>
              </c:strCache>
            </c:strRef>
          </c:cat>
          <c:val>
            <c:numRef>
              <c:f>Sheet1!$B$14</c:f>
              <c:numCache>
                <c:formatCode>0.0</c:formatCode>
                <c:ptCount val="1"/>
                <c:pt idx="0">
                  <c:v>14.9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B-186F-473A-BF36-28051D05DE87}"/>
            </c:ext>
          </c:extLst>
        </c:ser>
        <c:ser>
          <c:idx val="12"/>
          <c:order val="12"/>
          <c:tx>
            <c:strRef>
              <c:f>Sheet1!$A$15</c:f>
              <c:strCache>
                <c:ptCount val="1"/>
                <c:pt idx="0">
                  <c:v>Germany</c:v>
                </c:pt>
              </c:strCache>
            </c:strRef>
          </c:tx>
          <c:spPr>
            <a:solidFill>
              <a:schemeClr val="accent1">
                <a:lumMod val="80000"/>
                <a:lumOff val="2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Sheet1!$B$2</c:f>
              <c:strCache>
                <c:ptCount val="1"/>
                <c:pt idx="0">
                  <c:v>Avg_Delivery_Delay_Hours</c:v>
                </c:pt>
              </c:strCache>
            </c:strRef>
          </c:cat>
          <c:val>
            <c:numRef>
              <c:f>Sheet1!$B$15</c:f>
              <c:numCache>
                <c:formatCode>0.0</c:formatCode>
                <c:ptCount val="1"/>
                <c:pt idx="0">
                  <c:v>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186F-473A-BF36-28051D05DE87}"/>
            </c:ext>
          </c:extLst>
        </c:ser>
        <c:ser>
          <c:idx val="13"/>
          <c:order val="13"/>
          <c:tx>
            <c:strRef>
              <c:f>Sheet1!$A$16</c:f>
              <c:strCache>
                <c:ptCount val="1"/>
                <c:pt idx="0">
                  <c:v>South Africa</c:v>
                </c:pt>
              </c:strCache>
            </c:strRef>
          </c:tx>
          <c:spPr>
            <a:solidFill>
              <a:schemeClr val="accent2">
                <a:lumMod val="80000"/>
                <a:lumOff val="2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Sheet1!$B$2</c:f>
              <c:strCache>
                <c:ptCount val="1"/>
                <c:pt idx="0">
                  <c:v>Avg_Delivery_Delay_Hours</c:v>
                </c:pt>
              </c:strCache>
            </c:strRef>
          </c:cat>
          <c:val>
            <c:numRef>
              <c:f>Sheet1!$B$16</c:f>
              <c:numCache>
                <c:formatCode>0.0</c:formatCode>
                <c:ptCount val="1"/>
                <c:pt idx="0">
                  <c:v>13.9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D-186F-473A-BF36-28051D05DE87}"/>
            </c:ext>
          </c:extLst>
        </c:ser>
        <c:ser>
          <c:idx val="14"/>
          <c:order val="14"/>
          <c:tx>
            <c:strRef>
              <c:f>Sheet1!$A$17</c:f>
              <c:strCache>
                <c:ptCount val="1"/>
                <c:pt idx="0">
                  <c:v>Australia</c:v>
                </c:pt>
              </c:strCache>
            </c:strRef>
          </c:tx>
          <c:spPr>
            <a:solidFill>
              <a:schemeClr val="accent3">
                <a:lumMod val="80000"/>
                <a:lumOff val="2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Sheet1!$B$2</c:f>
              <c:strCache>
                <c:ptCount val="1"/>
                <c:pt idx="0">
                  <c:v>Avg_Delivery_Delay_Hours</c:v>
                </c:pt>
              </c:strCache>
            </c:strRef>
          </c:cat>
          <c:val>
            <c:numRef>
              <c:f>Sheet1!$B$17</c:f>
              <c:numCache>
                <c:formatCode>0.0</c:formatCode>
                <c:ptCount val="1"/>
                <c:pt idx="0">
                  <c:v>13.9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186F-473A-BF36-28051D05DE87}"/>
            </c:ext>
          </c:extLst>
        </c:ser>
        <c:ser>
          <c:idx val="15"/>
          <c:order val="15"/>
          <c:tx>
            <c:strRef>
              <c:f>Sheet1!$A$18</c:f>
              <c:strCache>
                <c:ptCount val="1"/>
                <c:pt idx="0">
                  <c:v>Japan</c:v>
                </c:pt>
              </c:strCache>
            </c:strRef>
          </c:tx>
          <c:spPr>
            <a:solidFill>
              <a:schemeClr val="accent4">
                <a:lumMod val="80000"/>
                <a:lumOff val="2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Sheet1!$B$2</c:f>
              <c:strCache>
                <c:ptCount val="1"/>
                <c:pt idx="0">
                  <c:v>Avg_Delivery_Delay_Hours</c:v>
                </c:pt>
              </c:strCache>
            </c:strRef>
          </c:cat>
          <c:val>
            <c:numRef>
              <c:f>Sheet1!$B$18</c:f>
              <c:numCache>
                <c:formatCode>0.0</c:formatCode>
                <c:ptCount val="1"/>
                <c:pt idx="0">
                  <c:v>11.9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F-186F-473A-BF36-28051D05DE87}"/>
            </c:ext>
          </c:extLst>
        </c:ser>
        <c:ser>
          <c:idx val="16"/>
          <c:order val="16"/>
          <c:tx>
            <c:strRef>
              <c:f>Sheet1!$A$19</c:f>
              <c:strCache>
                <c:ptCount val="1"/>
                <c:pt idx="0">
                  <c:v>Canada</c:v>
                </c:pt>
              </c:strCache>
            </c:strRef>
          </c:tx>
          <c:spPr>
            <a:solidFill>
              <a:schemeClr val="accent5">
                <a:lumMod val="80000"/>
                <a:lumOff val="2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Sheet1!$B$2</c:f>
              <c:strCache>
                <c:ptCount val="1"/>
                <c:pt idx="0">
                  <c:v>Avg_Delivery_Delay_Hours</c:v>
                </c:pt>
              </c:strCache>
            </c:strRef>
          </c:cat>
          <c:val>
            <c:numRef>
              <c:f>Sheet1!$B$19</c:f>
              <c:numCache>
                <c:formatCode>0.0</c:formatCode>
                <c:ptCount val="1"/>
                <c:pt idx="0">
                  <c:v>9.6999999999999993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186F-473A-BF36-28051D05DE87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546807664"/>
        <c:axId val="1546788464"/>
      </c:barChart>
      <c:catAx>
        <c:axId val="1546807664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546788464"/>
        <c:crosses val="autoZero"/>
        <c:auto val="1"/>
        <c:lblAlgn val="ctr"/>
        <c:lblOffset val="100"/>
        <c:noMultiLvlLbl val="0"/>
      </c:catAx>
      <c:valAx>
        <c:axId val="1546788464"/>
        <c:scaling>
          <c:orientation val="minMax"/>
        </c:scaling>
        <c:delete val="1"/>
        <c:axPos val="l"/>
        <c:numFmt formatCode="0.0" sourceLinked="1"/>
        <c:majorTickMark val="none"/>
        <c:minorTickMark val="none"/>
        <c:tickLblPos val="nextTo"/>
        <c:crossAx val="154680766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10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en-US" sz="1000" b="0" i="0" u="none" strike="noStrike" kern="1200" baseline="0">
          <a:solidFill>
            <a:schemeClr val="tx1"/>
          </a:solidFill>
          <a:latin typeface="+mn-lt"/>
          <a:ea typeface="+mn-ea"/>
          <a:cs typeface="+mn-cs"/>
        </a:defRPr>
      </a:pPr>
      <a:endParaRPr lang="en-US"/>
    </a:p>
  </c:txPr>
  <c:externalData r:id="rId3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algn="ctr" rtl="0">
              <a:defRPr lang="en-IN" sz="1400" b="1" i="0" u="none" strike="noStrike" kern="1200" spc="0" baseline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pPr>
            <a:r>
              <a:rPr lang="en-US" sz="1400" b="1" i="0" u="none" strike="noStrike" kern="1200" spc="0" baseline="0" dirty="0">
                <a:solidFill>
                  <a:prstClr val="black"/>
                </a:solidFill>
                <a:latin typeface="+mn-lt"/>
                <a:ea typeface="+mn-ea"/>
                <a:cs typeface="+mn-cs"/>
              </a:rPr>
              <a:t>Avg Delay Hours of each Route</a:t>
            </a:r>
          </a:p>
        </c:rich>
      </c:tx>
      <c:layout>
        <c:manualLayout>
          <c:xMode val="edge"/>
          <c:yMode val="edge"/>
          <c:x val="0.35914373533525251"/>
          <c:y val="0.1218828377846464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 rtl="0">
            <a:defRPr lang="en-IN" sz="1400" b="1" i="0" u="none" strike="noStrike" kern="1200" spc="0" baseline="0">
              <a:solidFill>
                <a:prstClr val="black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1.4391747275560855E-2"/>
          <c:y val="3.5595782051356849E-2"/>
          <c:w val="0.97121650544887828"/>
          <c:h val="0.8828469514429232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Sheet1!$B$2</c:f>
              <c:strCache>
                <c:ptCount val="1"/>
                <c:pt idx="0">
                  <c:v>Avg_Delay_Hours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Sheet1!$A$3:$A$22</c:f>
              <c:strCache>
                <c:ptCount val="20"/>
                <c:pt idx="0">
                  <c:v>R002</c:v>
                </c:pt>
                <c:pt idx="1">
                  <c:v>R007</c:v>
                </c:pt>
                <c:pt idx="2">
                  <c:v>R020</c:v>
                </c:pt>
                <c:pt idx="3">
                  <c:v>R003</c:v>
                </c:pt>
                <c:pt idx="4">
                  <c:v>R008</c:v>
                </c:pt>
                <c:pt idx="5">
                  <c:v>R005</c:v>
                </c:pt>
                <c:pt idx="6">
                  <c:v>R004</c:v>
                </c:pt>
                <c:pt idx="7">
                  <c:v>R018</c:v>
                </c:pt>
                <c:pt idx="8">
                  <c:v>R011</c:v>
                </c:pt>
                <c:pt idx="9">
                  <c:v>R014</c:v>
                </c:pt>
                <c:pt idx="10">
                  <c:v>R010</c:v>
                </c:pt>
                <c:pt idx="11">
                  <c:v>R017</c:v>
                </c:pt>
                <c:pt idx="12">
                  <c:v>R015</c:v>
                </c:pt>
                <c:pt idx="13">
                  <c:v>R016</c:v>
                </c:pt>
                <c:pt idx="14">
                  <c:v>R006</c:v>
                </c:pt>
                <c:pt idx="15">
                  <c:v>R012</c:v>
                </c:pt>
                <c:pt idx="16">
                  <c:v>R019</c:v>
                </c:pt>
                <c:pt idx="17">
                  <c:v>R013</c:v>
                </c:pt>
                <c:pt idx="18">
                  <c:v>R009</c:v>
                </c:pt>
                <c:pt idx="19">
                  <c:v>R001</c:v>
                </c:pt>
              </c:strCache>
            </c:strRef>
          </c:cat>
          <c:val>
            <c:numRef>
              <c:f>Sheet1!$B$3:$B$22</c:f>
              <c:numCache>
                <c:formatCode>0.0</c:formatCode>
                <c:ptCount val="20"/>
                <c:pt idx="0">
                  <c:v>41</c:v>
                </c:pt>
                <c:pt idx="1">
                  <c:v>34</c:v>
                </c:pt>
                <c:pt idx="2">
                  <c:v>32.799999999999997</c:v>
                </c:pt>
                <c:pt idx="3">
                  <c:v>32.200000000000003</c:v>
                </c:pt>
                <c:pt idx="4">
                  <c:v>30.8</c:v>
                </c:pt>
                <c:pt idx="5">
                  <c:v>29.9</c:v>
                </c:pt>
                <c:pt idx="6">
                  <c:v>25.9</c:v>
                </c:pt>
                <c:pt idx="7">
                  <c:v>25.8</c:v>
                </c:pt>
                <c:pt idx="8">
                  <c:v>22.6</c:v>
                </c:pt>
                <c:pt idx="9">
                  <c:v>21</c:v>
                </c:pt>
                <c:pt idx="10">
                  <c:v>20.3</c:v>
                </c:pt>
                <c:pt idx="11">
                  <c:v>19.3</c:v>
                </c:pt>
                <c:pt idx="12">
                  <c:v>15.2</c:v>
                </c:pt>
                <c:pt idx="13">
                  <c:v>14.9</c:v>
                </c:pt>
                <c:pt idx="14">
                  <c:v>14</c:v>
                </c:pt>
                <c:pt idx="15">
                  <c:v>13.9</c:v>
                </c:pt>
                <c:pt idx="16">
                  <c:v>13.9</c:v>
                </c:pt>
                <c:pt idx="17">
                  <c:v>11.9</c:v>
                </c:pt>
                <c:pt idx="18">
                  <c:v>9.6999999999999993</c:v>
                </c:pt>
                <c:pt idx="19">
                  <c:v>6.8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B4B-434F-984C-9B33B917F5FD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271877280"/>
        <c:axId val="1271869120"/>
      </c:barChart>
      <c:catAx>
        <c:axId val="12718772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71869120"/>
        <c:crosses val="autoZero"/>
        <c:auto val="1"/>
        <c:lblAlgn val="ctr"/>
        <c:lblOffset val="100"/>
        <c:noMultiLvlLbl val="0"/>
      </c:catAx>
      <c:valAx>
        <c:axId val="1271869120"/>
        <c:scaling>
          <c:orientation val="minMax"/>
        </c:scaling>
        <c:delete val="1"/>
        <c:axPos val="l"/>
        <c:numFmt formatCode="0.0" sourceLinked="1"/>
        <c:majorTickMark val="none"/>
        <c:minorTickMark val="none"/>
        <c:tickLblPos val="nextTo"/>
        <c:crossAx val="127187728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en-US" sz="1200" b="1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 b="1" dirty="0">
                <a:solidFill>
                  <a:schemeClr val="tx1"/>
                </a:solidFill>
              </a:rPr>
              <a:t>Warehouse</a:t>
            </a:r>
            <a:r>
              <a:rPr lang="en-US" b="1" baseline="0" dirty="0">
                <a:solidFill>
                  <a:schemeClr val="tx1"/>
                </a:solidFill>
              </a:rPr>
              <a:t> </a:t>
            </a:r>
            <a:r>
              <a:rPr lang="en-US" b="1" dirty="0">
                <a:solidFill>
                  <a:schemeClr val="tx1"/>
                </a:solidFill>
              </a:rPr>
              <a:t>Utilization</a:t>
            </a:r>
            <a:r>
              <a:rPr lang="en-US" b="1" baseline="0" dirty="0">
                <a:solidFill>
                  <a:schemeClr val="tx1"/>
                </a:solidFill>
              </a:rPr>
              <a:t> </a:t>
            </a:r>
            <a:r>
              <a:rPr lang="en-US" b="1" dirty="0">
                <a:solidFill>
                  <a:schemeClr val="tx1"/>
                </a:solidFill>
              </a:rPr>
              <a:t>Percentage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1200" b="1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Sheet2!$B$1</c:f>
              <c:strCache>
                <c:ptCount val="1"/>
                <c:pt idx="0">
                  <c:v>Warehouse_Utilization_Percentage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Sheet2!$A$2:$A$11</c:f>
              <c:strCache>
                <c:ptCount val="10"/>
                <c:pt idx="0">
                  <c:v>W010</c:v>
                </c:pt>
                <c:pt idx="1">
                  <c:v>W005</c:v>
                </c:pt>
                <c:pt idx="2">
                  <c:v>W002</c:v>
                </c:pt>
                <c:pt idx="3">
                  <c:v>W004</c:v>
                </c:pt>
                <c:pt idx="4">
                  <c:v>W008</c:v>
                </c:pt>
                <c:pt idx="5">
                  <c:v>W006</c:v>
                </c:pt>
                <c:pt idx="6">
                  <c:v>W007</c:v>
                </c:pt>
                <c:pt idx="7">
                  <c:v>W003</c:v>
                </c:pt>
                <c:pt idx="8">
                  <c:v>W001</c:v>
                </c:pt>
                <c:pt idx="9">
                  <c:v>W009</c:v>
                </c:pt>
              </c:strCache>
            </c:strRef>
          </c:cat>
          <c:val>
            <c:numRef>
              <c:f>Sheet2!$B$2:$B$11</c:f>
              <c:numCache>
                <c:formatCode>#.0</c:formatCode>
                <c:ptCount val="10"/>
                <c:pt idx="0">
                  <c:v>10.3</c:v>
                </c:pt>
                <c:pt idx="1">
                  <c:v>10.199999999999999</c:v>
                </c:pt>
                <c:pt idx="2">
                  <c:v>6.5</c:v>
                </c:pt>
                <c:pt idx="3">
                  <c:v>6</c:v>
                </c:pt>
                <c:pt idx="4">
                  <c:v>4.5</c:v>
                </c:pt>
                <c:pt idx="5">
                  <c:v>4</c:v>
                </c:pt>
                <c:pt idx="6">
                  <c:v>3.8</c:v>
                </c:pt>
                <c:pt idx="7">
                  <c:v>3.6</c:v>
                </c:pt>
                <c:pt idx="8">
                  <c:v>3.4</c:v>
                </c:pt>
                <c:pt idx="9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AAA-4E20-910E-CB201383EA68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10062479"/>
        <c:axId val="110062959"/>
      </c:barChart>
      <c:catAx>
        <c:axId val="11006247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0062959"/>
        <c:crosses val="autoZero"/>
        <c:auto val="1"/>
        <c:lblAlgn val="ctr"/>
        <c:lblOffset val="100"/>
        <c:noMultiLvlLbl val="0"/>
      </c:catAx>
      <c:valAx>
        <c:axId val="110062959"/>
        <c:scaling>
          <c:orientation val="minMax"/>
        </c:scaling>
        <c:delete val="1"/>
        <c:axPos val="l"/>
        <c:numFmt formatCode="#.0" sourceLinked="1"/>
        <c:majorTickMark val="none"/>
        <c:minorTickMark val="none"/>
        <c:tickLblPos val="nextTo"/>
        <c:crossAx val="11006247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 algn="ctr">
        <a:defRPr lang="en-US" sz="1000" b="0" i="0" u="none" strike="noStrike" kern="1200" baseline="0">
          <a:solidFill>
            <a:schemeClr val="tx1"/>
          </a:solidFill>
          <a:latin typeface="+mn-lt"/>
          <a:ea typeface="+mn-ea"/>
          <a:cs typeface="+mn-cs"/>
        </a:defRPr>
      </a:pPr>
      <a:endParaRPr lang="en-US"/>
    </a:p>
  </c:txPr>
  <c:externalData r:id="rId3">
    <c:autoUpdate val="0"/>
  </c:externalData>
</c:chartSpace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Sheet2!$A$2:$A$11</cx:f>
        <cx:lvl ptCount="10">
          <cx:pt idx="0">W008</cx:pt>
          <cx:pt idx="1">W010</cx:pt>
          <cx:pt idx="2">W005</cx:pt>
          <cx:pt idx="3">W009</cx:pt>
          <cx:pt idx="4">W001</cx:pt>
          <cx:pt idx="5">W003</cx:pt>
          <cx:pt idx="6">W002</cx:pt>
          <cx:pt idx="7">W004</cx:pt>
          <cx:pt idx="8">W006</cx:pt>
          <cx:pt idx="9">W007</cx:pt>
        </cx:lvl>
      </cx:strDim>
      <cx:numDim type="val">
        <cx:f>Sheet2!$B$2:$B$11</cx:f>
        <cx:lvl ptCount="10" formatCode="General">
          <cx:pt idx="0">1</cx:pt>
          <cx:pt idx="1">2</cx:pt>
          <cx:pt idx="2">3</cx:pt>
          <cx:pt idx="3">4</cx:pt>
          <cx:pt idx="4">5</cx:pt>
          <cx:pt idx="5">6</cx:pt>
          <cx:pt idx="6">7</cx:pt>
          <cx:pt idx="7">8</cx:pt>
          <cx:pt idx="8">9</cx:pt>
          <cx:pt idx="9">10</cx:pt>
        </cx:lvl>
      </cx:numDim>
    </cx:data>
  </cx:chartData>
  <cx:chart>
    <cx:plotArea>
      <cx:plotAreaRegion>
        <cx:series layoutId="funnel" uniqueId="{3FAE3C09-A4BB-465A-8BEF-B0B558043E84}">
          <cx:tx>
            <cx:txData>
              <cx:f>Sheet2!$B$1</cx:f>
              <cx:v>Rank</cx:v>
            </cx:txData>
          </cx:tx>
          <cx:spPr>
            <a:solidFill>
              <a:schemeClr val="accent4"/>
            </a:solidFill>
          </cx:spPr>
          <cx:dataLabels>
            <cx:txPr>
              <a:bodyPr vertOverflow="overflow" horzOverflow="overflow" wrap="square" lIns="0" tIns="0" rIns="0" bIns="0"/>
              <a:lstStyle/>
              <a:p>
                <a:pPr algn="ctr" rtl="0">
                  <a:defRPr lang="en-US" sz="10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 sz="1000" b="0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endParaRPr>
              </a:p>
            </cx:txPr>
            <cx:visibility seriesName="0" categoryName="0" value="1"/>
          </cx:dataLabels>
          <cx:dataId val="0"/>
        </cx:series>
      </cx:plotAreaRegion>
      <cx:axis id="0">
        <cx:catScaling gapWidth="0.0599999987"/>
        <cx:tickLabels/>
        <cx:txPr>
          <a:bodyPr vertOverflow="overflow" horzOverflow="overflow" wrap="square" lIns="0" tIns="0" rIns="0" bIns="0"/>
          <a:lstStyle/>
          <a:p>
            <a:pPr algn="ctr" rtl="0">
              <a:defRPr lang="en-US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 sz="10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cx:txPr>
      </cx:axis>
    </cx:plotArea>
  </cx:chart>
</cx:chartSpace>
</file>

<file path=ppt/charts/chartEx2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Sheet1!$A$3:$A$12</cx:f>
        <cx:lvl ptCount="10">
          <cx:pt idx="0">W008</cx:pt>
          <cx:pt idx="1">W010</cx:pt>
          <cx:pt idx="2">W005</cx:pt>
          <cx:pt idx="3">W009</cx:pt>
          <cx:pt idx="4">W001</cx:pt>
          <cx:pt idx="5">W003</cx:pt>
          <cx:pt idx="6">W002</cx:pt>
          <cx:pt idx="7">W004</cx:pt>
          <cx:pt idx="8">W006</cx:pt>
          <cx:pt idx="9">W007</cx:pt>
        </cx:lvl>
      </cx:strDim>
      <cx:numDim type="val">
        <cx:f>Sheet1!$B$3:$B$12</cx:f>
        <cx:lvl ptCount="10" formatCode="#.0">
          <cx:pt idx="0">10.7143</cx:pt>
          <cx:pt idx="1">8.7378999999999998</cx:pt>
          <cx:pt idx="2">7.8430999999999997</cx:pt>
          <cx:pt idx="3">7.6923000000000004</cx:pt>
          <cx:pt idx="4">6.7961</cx:pt>
          <cx:pt idx="5">6.5420999999999996</cx:pt>
          <cx:pt idx="6">6.1856</cx:pt>
          <cx:pt idx="7">5.5556000000000001</cx:pt>
          <cx:pt idx="8">5.0505000000000004</cx:pt>
          <cx:pt idx="9">2.0832999999999999</cx:pt>
        </cx:lvl>
      </cx:numDim>
    </cx:data>
    <cx:data id="1">
      <cx:strDim type="cat">
        <cx:f>Sheet1!$A$3:$A$12</cx:f>
        <cx:lvl ptCount="10">
          <cx:pt idx="0">W008</cx:pt>
          <cx:pt idx="1">W010</cx:pt>
          <cx:pt idx="2">W005</cx:pt>
          <cx:pt idx="3">W009</cx:pt>
          <cx:pt idx="4">W001</cx:pt>
          <cx:pt idx="5">W003</cx:pt>
          <cx:pt idx="6">W002</cx:pt>
          <cx:pt idx="7">W004</cx:pt>
          <cx:pt idx="8">W006</cx:pt>
          <cx:pt idx="9">W007</cx:pt>
        </cx:lvl>
      </cx:strDim>
      <cx:numDim type="val">
        <cx:f>Sheet1!$C$3:$C$12</cx:f>
        <cx:lvl ptCount="10" formatCode="General">
          <cx:pt idx="0">1</cx:pt>
          <cx:pt idx="1">2</cx:pt>
          <cx:pt idx="2">3</cx:pt>
          <cx:pt idx="3">4</cx:pt>
          <cx:pt idx="4">5</cx:pt>
          <cx:pt idx="5">6</cx:pt>
          <cx:pt idx="6">7</cx:pt>
          <cx:pt idx="7">8</cx:pt>
          <cx:pt idx="8">9</cx:pt>
          <cx:pt idx="9">10</cx:pt>
        </cx:lvl>
      </cx:numDim>
    </cx:data>
  </cx:chartData>
  <cx:chart>
    <cx:plotArea>
      <cx:plotAreaRegion>
        <cx:series layoutId="funnel" uniqueId="{4DF2B24D-8C2A-4DD2-B8E7-0E992809CA98}" formatIdx="0">
          <cx:tx>
            <cx:txData>
              <cx:f>Sheet1!$B$2</cx:f>
              <cx:v>On_Time_Delivery_Percentage</cx:v>
            </cx:txData>
          </cx:tx>
          <cx:spPr>
            <a:solidFill>
              <a:srgbClr val="0070C0"/>
            </a:solidFill>
          </cx:spPr>
          <cx:dataLabels>
            <cx:visibility seriesName="0" categoryName="0" value="1"/>
          </cx:dataLabels>
          <cx:dataId val="0"/>
        </cx:series>
        <cx:series layoutId="funnel" hidden="1" uniqueId="{FE33485F-E8C4-40CA-936D-C5BD8FC066D1}" formatIdx="1">
          <cx:tx>
            <cx:txData>
              <cx:f>Sheet1!$C$2</cx:f>
              <cx:v>Rank</cx:v>
            </cx:txData>
          </cx:tx>
          <cx:dataLabels>
            <cx:visibility seriesName="0" categoryName="0" value="1"/>
          </cx:dataLabels>
          <cx:dataId val="1"/>
        </cx:series>
      </cx:plotAreaRegion>
      <cx:axis id="0" hidden="1">
        <cx:catScaling gapWidth="0.0599999987"/>
        <cx:tickLabels/>
      </cx:axis>
    </cx:plotArea>
  </cx:chart>
</cx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41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/>
  </cs:valueAxis>
  <cs:wall>
    <cs:lnRef idx="0"/>
    <cs:fillRef idx="0"/>
    <cs:effectRef idx="0"/>
    <cs:fontRef idx="minor">
      <a:schemeClr val="tx1"/>
    </cs:fontRef>
  </cs:wall>
</cs:chartStyle>
</file>

<file path=ppt/charts/style12.xml><?xml version="1.0" encoding="utf-8"?>
<cs:chartStyle xmlns:cs="http://schemas.microsoft.com/office/drawing/2012/chartStyle" xmlns:a="http://schemas.openxmlformats.org/drawingml/2006/main" id="41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/>
  </cs:valueAxis>
  <cs:wall>
    <cs:lnRef idx="0"/>
    <cs:fillRef idx="0"/>
    <cs:effectRef idx="0"/>
    <cs:fontRef idx="minor">
      <a:schemeClr val="tx1"/>
    </cs:fontRef>
  </cs:wall>
</cs:chartStyle>
</file>

<file path=ppt/charts/style1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6.xml><?xml version="1.0" encoding="utf-8"?>
<cs:chartStyle xmlns:cs="http://schemas.microsoft.com/office/drawing/2012/chartStyle" xmlns:a="http://schemas.openxmlformats.org/drawingml/2006/main" id="25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cs:styleClr val="auto"/>
    </cs:fontRef>
    <cs:defRPr sz="1000" b="1" i="0" u="none" strike="noStrike" kern="1200" spc="0" baseline="0"/>
  </cs:dataLabel>
  <cs:dataLabelCallout>
    <cs:lnRef idx="0">
      <cs:styleClr val="auto"/>
    </cs:lnRef>
    <cs:fillRef idx="0"/>
    <cs:effectRef idx="0"/>
    <cs:fontRef idx="minor">
      <cs:styleClr val="auto"/>
    </cs:fontRef>
    <cs:spPr>
      <a:solidFill>
        <a:schemeClr val="lt1"/>
      </a:solidFill>
      <a:ln>
        <a:solidFill>
          <a:schemeClr val="phClr"/>
        </a:solidFill>
      </a:ln>
    </cs:spPr>
    <cs:defRPr sz="100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635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88900" sx="102000" sy="102000" algn="ctr" rotWithShape="0">
          <a:prstClr val="black">
            <a:alpha val="10000"/>
          </a:prstClr>
        </a:outerShdw>
      </a:effectLst>
      <a:scene3d>
        <a:camera prst="orthographicFront"/>
        <a:lightRig rig="threePt" dir="t"/>
      </a:scene3d>
      <a:sp3d>
        <a:bevelT w="127000" h="127000"/>
        <a:bevelB w="127000" h="127000"/>
      </a:sp3d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cap="all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2A98A3-5DAA-62B5-2234-F1F54ABADC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7F9F5F-C39C-A075-502B-124AF9C462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764130-1B68-B5FA-508D-44585C985C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A4FA6-5956-405F-A129-ED16596E8614}" type="datetimeFigureOut">
              <a:rPr lang="en-IN" smtClean="0"/>
              <a:t>23-01-2026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091DC6-87B4-BDA8-0651-72A357D988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02A5A1-643A-BAB4-E120-BF78AD417E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A3B3CB-C185-4BC2-BF4F-1D0D18734C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60741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EAC456-88AA-0D72-7D8F-D27773C3D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5BFE26-04B8-5D43-B1C9-D364FFA9CF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E93BAB-4780-BBED-D00F-A390DB011E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A4FA6-5956-405F-A129-ED16596E8614}" type="datetimeFigureOut">
              <a:rPr lang="en-IN" smtClean="0"/>
              <a:t>23-01-2026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5EA3AD-A1C6-2CD9-5DA2-C708CEE4B1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5FBEFC-53A5-BF5D-8248-23018DC0D7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A3B3CB-C185-4BC2-BF4F-1D0D18734C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5171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48B6F-5537-7701-75E1-EDA7CE8015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0EE9C2-CAEB-527A-4124-F5179F1174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E2A0C6-AF0D-0F78-753F-7C20FE71C7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A4FA6-5956-405F-A129-ED16596E8614}" type="datetimeFigureOut">
              <a:rPr lang="en-IN" smtClean="0"/>
              <a:t>23-01-2026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87E628-553F-8CDE-94DC-81207A864B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9F0F0C-B635-201A-4BAD-5133F894A0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A3B3CB-C185-4BC2-BF4F-1D0D18734C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80393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3B3EE-74BF-7D32-92C7-B874043C08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0325D6-81E9-2D4E-1250-F09A510FA0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B0F309-1247-950E-9F91-3B473BCB38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C19EB0-AB0F-220D-6E14-F2AD510713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A4FA6-5956-405F-A129-ED16596E8614}" type="datetimeFigureOut">
              <a:rPr lang="en-IN" smtClean="0"/>
              <a:t>23-01-2026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57DC73-AE5D-9138-2FDC-5EF9F62704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223E4C-AB10-C633-78F0-F98C7B2454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A3B3CB-C185-4BC2-BF4F-1D0D18734C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929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E7C24F-2C6F-1ABE-3F1D-8417CF843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2D6045-D683-EFB2-AE8B-786E9C05BB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F8775B-6D72-BE7D-888C-F58F4F5ABD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B08E778-A293-F53D-A095-E9E5FF8B0D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9A70551-4F6A-D59B-0195-F498DFCC6E7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2E4087C-252B-903F-A6BB-FC5E859333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A4FA6-5956-405F-A129-ED16596E8614}" type="datetimeFigureOut">
              <a:rPr lang="en-IN" smtClean="0"/>
              <a:t>23-01-2026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6FEB9EF-D9D0-0AEA-5B2F-B37CB4B181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424BCCC-EF01-A7C3-2487-366D8023BA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A3B3CB-C185-4BC2-BF4F-1D0D18734C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14858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A4E40B-9285-78A2-BA29-3F021CA1A9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8ADC51B-1AF6-BE70-AA89-342B37A2EA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A4FA6-5956-405F-A129-ED16596E8614}" type="datetimeFigureOut">
              <a:rPr lang="en-IN" smtClean="0"/>
              <a:t>23-01-2026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3056DE-A900-0066-CA40-41A757DF4E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EC5A7A-4D3A-0ACF-DF5C-44FF042ABC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A3B3CB-C185-4BC2-BF4F-1D0D18734C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30764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98AF14C-E4FE-D2BA-C671-7A1C8CD1D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A4FA6-5956-405F-A129-ED16596E8614}" type="datetimeFigureOut">
              <a:rPr lang="en-IN" smtClean="0"/>
              <a:t>23-01-2026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6697A8D-695A-EE90-C183-7BB03E454A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346BAF-AAB4-284F-21A0-B477CCC786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A3B3CB-C185-4BC2-BF4F-1D0D18734C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21944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DE69A3-0A3E-D9CE-0942-1AADBD218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A05ABA-637F-E145-CA7E-9EA54C34C5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02325F-CDCB-C48E-5B5E-290BCC44AA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1946E7-CEAD-4E3C-6F99-B7E6684983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A4FA6-5956-405F-A129-ED16596E8614}" type="datetimeFigureOut">
              <a:rPr lang="en-IN" smtClean="0"/>
              <a:t>23-01-2026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DF66F1-0029-3DB1-67C6-7BADC8CC3F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A12559-B32C-6615-0E84-B0A92C403F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A3B3CB-C185-4BC2-BF4F-1D0D18734C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20082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48A88F-C4B4-E67C-52D6-8CF20FFDD0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B2BCCF8-FC4C-DB47-5834-BAF2D7AB9E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F29EBF-E59A-D8E8-6DE8-4BB0503BFC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B60B93-7C24-2700-BB46-286ACE2C96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A4FA6-5956-405F-A129-ED16596E8614}" type="datetimeFigureOut">
              <a:rPr lang="en-IN" smtClean="0"/>
              <a:t>23-01-2026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F1F9B9-24A1-D53E-B406-EDC1AC30F5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5AF9F3-6F09-26EF-FDBD-2A77A9454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A3B3CB-C185-4BC2-BF4F-1D0D18734C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30730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9850B1-C274-30EC-2678-39ED68EEE2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71EDC3-BFED-393E-91B0-FD3FDE5804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440230-1308-4403-CB8C-1EB2C6F0C4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A4FA6-5956-405F-A129-ED16596E8614}" type="datetimeFigureOut">
              <a:rPr lang="en-IN" smtClean="0"/>
              <a:t>23-01-2026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E4FD59-D70E-B3CE-F181-9571F74399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070FA6-45A1-8283-E7B6-88DE023873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A3B3CB-C185-4BC2-BF4F-1D0D18734C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78108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9481CC6-62F2-9D86-FEB8-D8716772EDF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2897A4-FCC9-8AC9-CFB4-432B3B8141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8CA2E9-C0D9-ABDD-E5D7-E3799C2ED0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A4FA6-5956-405F-A129-ED16596E8614}" type="datetimeFigureOut">
              <a:rPr lang="en-IN" smtClean="0"/>
              <a:t>23-01-2026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33D86B-5A9C-8531-C8E8-6B06997B30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BDF345-6D28-CCC2-016F-065CED1149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A3B3CB-C185-4BC2-BF4F-1D0D18734C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23833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3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66DD4AF-C085-0B6F-44A2-1D8FE961DC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EF9C63-84BC-7DF5-6F6E-4B009576E2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6E459A-364B-5DA5-557E-1079B03B4B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6A4FA6-5956-405F-A129-ED16596E8614}" type="datetimeFigureOut">
              <a:rPr lang="en-IN" smtClean="0"/>
              <a:t>23-01-2026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D5B5C0-61DA-DA5C-8D2C-CE3D0059F5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408AC2-45A3-78D8-5648-891F7542E7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FA3B3CB-C185-4BC2-BF4F-1D0D18734C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15303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3.jpe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5.png"/><Relationship Id="rId7" Type="http://schemas.openxmlformats.org/officeDocument/2006/relationships/image" Target="../media/image18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chart" Target="../charts/chart1.xml"/><Relationship Id="rId4" Type="http://schemas.openxmlformats.org/officeDocument/2006/relationships/image" Target="../media/image16.png"/><Relationship Id="rId9" Type="http://schemas.openxmlformats.org/officeDocument/2006/relationships/image" Target="../media/image2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chart" Target="../charts/chart2.xml"/><Relationship Id="rId4" Type="http://schemas.openxmlformats.org/officeDocument/2006/relationships/image" Target="../media/image2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chart" Target="../charts/chart5.xml"/><Relationship Id="rId4" Type="http://schemas.openxmlformats.org/officeDocument/2006/relationships/chart" Target="../charts/char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7.xml"/><Relationship Id="rId4" Type="http://schemas.openxmlformats.org/officeDocument/2006/relationships/image" Target="../media/image28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9.xml"/><Relationship Id="rId4" Type="http://schemas.openxmlformats.org/officeDocument/2006/relationships/image" Target="../media/image30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chart" Target="../charts/chart10.xml"/><Relationship Id="rId7" Type="http://schemas.microsoft.com/office/2014/relationships/chartEx" Target="../charts/chartEx2.xml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microsoft.com/office/2014/relationships/chartEx" Target="../charts/chartEx1.xml"/><Relationship Id="rId4" Type="http://schemas.openxmlformats.org/officeDocument/2006/relationships/image" Target="../media/image32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chart" Target="../charts/chart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6" Type="http://schemas.openxmlformats.org/officeDocument/2006/relationships/chart" Target="../charts/chart13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5.xml"/><Relationship Id="rId2" Type="http://schemas.openxmlformats.org/officeDocument/2006/relationships/chart" Target="../charts/chart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16.xml"/><Relationship Id="rId4" Type="http://schemas.openxmlformats.org/officeDocument/2006/relationships/image" Target="../media/image4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7.xml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8.xml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0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hyperlink" Target="https://drive.google.com/file/d/1y4_bmdRfXY7KHTZazjETWCZuXegb9FgD/view?usp=drive_link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8555B-772F-7AF4-BFC3-00EE9BF9FF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066925"/>
            <a:ext cx="9144000" cy="2952750"/>
          </a:xfrm>
        </p:spPr>
        <p:txBody>
          <a:bodyPr>
            <a:noAutofit/>
          </a:bodyPr>
          <a:lstStyle/>
          <a:p>
            <a:pPr>
              <a:lnSpc>
                <a:spcPct val="114000"/>
              </a:lnSpc>
            </a:pPr>
            <a:r>
              <a:rPr lang="en-IN" sz="7200" b="1" dirty="0">
                <a:solidFill>
                  <a:schemeClr val="accent5">
                    <a:lumMod val="50000"/>
                  </a:schemeClr>
                </a:solidFill>
                <a:latin typeface="Arial Black" panose="020B0A04020102020204" pitchFamily="34" charset="0"/>
              </a:rPr>
              <a:t> </a:t>
            </a:r>
            <a:r>
              <a:rPr lang="en-IN" sz="7200" b="1" dirty="0">
                <a:solidFill>
                  <a:srgbClr val="C00000"/>
                </a:solidFill>
                <a:latin typeface="Bookman Old Style" panose="02050604050505020204" pitchFamily="18" charset="0"/>
              </a:rPr>
              <a:t>Logistics Optimization for Delivery Routes - DHL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F703B0-BEA8-FC25-15A0-EA7CB7F8A3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219700"/>
            <a:ext cx="9144000" cy="1333500"/>
          </a:xfrm>
        </p:spPr>
        <p:txBody>
          <a:bodyPr>
            <a:normAutofit lnSpcReduction="10000"/>
          </a:bodyPr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IN" sz="3600" b="1" dirty="0">
                <a:solidFill>
                  <a:schemeClr val="tx2"/>
                </a:solidFill>
              </a:rPr>
              <a:t>SQL Queries, Charts, Graphs, Key Insights and Business Recommendations</a:t>
            </a:r>
          </a:p>
        </p:txBody>
      </p:sp>
    </p:spTree>
    <p:extLst>
      <p:ext uri="{BB962C8B-B14F-4D97-AF65-F5344CB8AC3E}">
        <p14:creationId xmlns:p14="http://schemas.microsoft.com/office/powerpoint/2010/main" val="32352097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2EE6E-46D2-7138-59C3-4232DDD73F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136" y="1"/>
            <a:ext cx="10610490" cy="678010"/>
          </a:xfrm>
        </p:spPr>
        <p:txBody>
          <a:bodyPr>
            <a:normAutofit/>
          </a:bodyPr>
          <a:lstStyle/>
          <a:p>
            <a:pPr algn="ctr"/>
            <a:r>
              <a:rPr lang="en-GB" sz="2800" b="1" dirty="0"/>
              <a:t>Task 1: Data Cleaning &amp; Preparation</a:t>
            </a:r>
            <a:endParaRPr lang="en-IN" sz="28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1CCDFF-E9FA-B38E-5927-866CEF0796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681487"/>
            <a:ext cx="12192000" cy="6176513"/>
          </a:xfrm>
        </p:spPr>
        <p:txBody>
          <a:bodyPr>
            <a:normAutofit fontScale="92500" lnSpcReduction="20000"/>
          </a:bodyPr>
          <a:lstStyle/>
          <a:p>
            <a:pPr marL="0" indent="0">
              <a:lnSpc>
                <a:spcPct val="124000"/>
              </a:lnSpc>
              <a:spcAft>
                <a:spcPts val="400"/>
              </a:spcAft>
              <a:buNone/>
            </a:pPr>
            <a:endParaRPr lang="en-IN" dirty="0"/>
          </a:p>
          <a:p>
            <a:pPr marL="0" indent="0">
              <a:lnSpc>
                <a:spcPct val="124000"/>
              </a:lnSpc>
              <a:spcAft>
                <a:spcPts val="400"/>
              </a:spcAft>
              <a:buNone/>
            </a:pPr>
            <a:endParaRPr lang="en-IN" dirty="0"/>
          </a:p>
          <a:p>
            <a:pPr marL="0" indent="0">
              <a:lnSpc>
                <a:spcPct val="124000"/>
              </a:lnSpc>
              <a:spcAft>
                <a:spcPts val="400"/>
              </a:spcAft>
              <a:buNone/>
            </a:pPr>
            <a:endParaRPr lang="en-IN" dirty="0"/>
          </a:p>
          <a:p>
            <a:pPr marL="0" indent="0">
              <a:lnSpc>
                <a:spcPct val="124000"/>
              </a:lnSpc>
              <a:spcAft>
                <a:spcPts val="400"/>
              </a:spcAft>
              <a:buNone/>
            </a:pPr>
            <a:endParaRPr lang="en-IN" dirty="0"/>
          </a:p>
          <a:p>
            <a:pPr marL="0" indent="0">
              <a:lnSpc>
                <a:spcPct val="124000"/>
              </a:lnSpc>
              <a:spcAft>
                <a:spcPts val="400"/>
              </a:spcAft>
              <a:buNone/>
            </a:pPr>
            <a:endParaRPr lang="en-IN" dirty="0"/>
          </a:p>
          <a:p>
            <a:pPr marL="0" indent="0">
              <a:lnSpc>
                <a:spcPct val="124000"/>
              </a:lnSpc>
              <a:spcBef>
                <a:spcPts val="0"/>
              </a:spcBef>
              <a:spcAft>
                <a:spcPts val="400"/>
              </a:spcAft>
              <a:buNone/>
            </a:pPr>
            <a:endParaRPr lang="en-GB" sz="1500" dirty="0"/>
          </a:p>
          <a:p>
            <a:pPr marL="0" indent="0">
              <a:lnSpc>
                <a:spcPct val="124000"/>
              </a:lnSpc>
              <a:spcBef>
                <a:spcPts val="0"/>
              </a:spcBef>
              <a:spcAft>
                <a:spcPts val="400"/>
              </a:spcAft>
              <a:buNone/>
            </a:pPr>
            <a:endParaRPr lang="en-GB" sz="1500" dirty="0"/>
          </a:p>
          <a:p>
            <a:pPr marL="0" indent="0">
              <a:lnSpc>
                <a:spcPct val="124000"/>
              </a:lnSpc>
              <a:spcBef>
                <a:spcPts val="0"/>
              </a:spcBef>
              <a:spcAft>
                <a:spcPts val="400"/>
              </a:spcAft>
              <a:buNone/>
            </a:pPr>
            <a:endParaRPr lang="en-GB" sz="1500" dirty="0"/>
          </a:p>
          <a:p>
            <a:pPr marL="0" indent="0">
              <a:lnSpc>
                <a:spcPct val="124000"/>
              </a:lnSpc>
              <a:spcBef>
                <a:spcPts val="0"/>
              </a:spcBef>
              <a:spcAft>
                <a:spcPts val="400"/>
              </a:spcAft>
              <a:buNone/>
            </a:pPr>
            <a:endParaRPr lang="en-GB" sz="1500" dirty="0"/>
          </a:p>
          <a:p>
            <a:pPr marL="0" indent="0">
              <a:lnSpc>
                <a:spcPct val="124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GB" sz="1500" dirty="0"/>
              <a:t>1. A data quality issue was identified where shipments with zero delay hours had incorrect delay reasons; this was corrected by standardizing such</a:t>
            </a:r>
            <a:br>
              <a:rPr lang="en-GB" sz="1500" dirty="0"/>
            </a:br>
            <a:r>
              <a:rPr lang="en-GB" sz="1500" dirty="0"/>
              <a:t>records to “</a:t>
            </a:r>
            <a:r>
              <a:rPr lang="en-GB" sz="1500" b="1" dirty="0"/>
              <a:t>No Delay</a:t>
            </a:r>
            <a:r>
              <a:rPr lang="en-GB" sz="1500" dirty="0"/>
              <a:t>” to ensure accurate delay analysis.</a:t>
            </a:r>
          </a:p>
          <a:p>
            <a:pPr marL="0" indent="0">
              <a:lnSpc>
                <a:spcPct val="124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GB" sz="1500" dirty="0"/>
              <a:t>2. No duplicate records were found in any table.</a:t>
            </a:r>
          </a:p>
          <a:p>
            <a:pPr marL="0" indent="0">
              <a:lnSpc>
                <a:spcPct val="124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GB" sz="1500" dirty="0"/>
              <a:t>3. No null or missing delay hours values were found in the shipments table.</a:t>
            </a:r>
          </a:p>
          <a:p>
            <a:pPr marL="0" indent="0">
              <a:lnSpc>
                <a:spcPct val="124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GB" sz="1500" dirty="0"/>
              <a:t>4. All date fields were standardized to </a:t>
            </a:r>
            <a:r>
              <a:rPr lang="en-GB" sz="1500" b="1" dirty="0"/>
              <a:t>YYYY-MM-DD HH:MM:SS </a:t>
            </a:r>
            <a:r>
              <a:rPr lang="en-GB" sz="1500" dirty="0"/>
              <a:t>format using SQL date functions to ensure consistency and enable accurate time-based analysis.</a:t>
            </a:r>
          </a:p>
          <a:p>
            <a:pPr marL="0" indent="0">
              <a:lnSpc>
                <a:spcPct val="124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GB" sz="1500" dirty="0"/>
              <a:t>5. Shipment timelines were validated to ensure that no delivery date occurred before the pickup date, and no inconsistencies were found.</a:t>
            </a:r>
            <a:endParaRPr lang="en-IN" sz="1500" dirty="0"/>
          </a:p>
          <a:p>
            <a:pPr marL="0" indent="0">
              <a:lnSpc>
                <a:spcPct val="124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GB" sz="1500" dirty="0"/>
              <a:t>6. Referential integrity across Orders, Routes, Warehouses, and Shipments was validated, and no orphan or inconsistent records were found.</a:t>
            </a:r>
            <a:endParaRPr lang="en-IN" sz="15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93C276D-BAC2-4F0B-C060-F801C50C1B5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0281" y="1546357"/>
            <a:ext cx="2943636" cy="2155324"/>
          </a:xfrm>
          <a:prstGeom prst="rect">
            <a:avLst/>
          </a:prstGeom>
          <a:blipFill dpi="0" rotWithShape="1">
            <a:blip r:embed="rId3">
              <a:alphaModFix/>
            </a:blip>
            <a:srcRect/>
            <a:tile tx="0" ty="0" sx="100000" sy="100000" flip="none" algn="tl"/>
          </a:blipFill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EC3EAA4-0A86-B7C4-CA00-071BA0AB7C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805" y="735461"/>
            <a:ext cx="2943636" cy="70971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89C2EBF-B92B-FC10-AEE8-F1D42B75E96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805" y="3812192"/>
            <a:ext cx="2924587" cy="64585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D255E3E-5AE6-C86A-9765-16318EB46EA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5923" y="735461"/>
            <a:ext cx="6030167" cy="56205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AE4CB475-0812-71EC-056A-536CA4274C0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10684" y="1445174"/>
            <a:ext cx="6030167" cy="800212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DE0B9697-73CA-F804-3EBC-0A60D23D0CA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07618" y="735461"/>
            <a:ext cx="2673607" cy="790685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6B392896-FE71-C282-D826-453B70FEF43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407618" y="1580120"/>
            <a:ext cx="2673607" cy="1419423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100CBA54-FB5C-A583-6CA7-558263A0471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398095" y="3056994"/>
            <a:ext cx="2673607" cy="140037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FCFE46BB-4CB1-7DA8-4B28-4775439ED3B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5921" y="2366335"/>
            <a:ext cx="3227046" cy="1381318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56CB3BAB-DEDD-4D69-E901-448379E53FD7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11560" y="2347283"/>
            <a:ext cx="2724530" cy="140037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49C1EC5C-29C4-A3B1-44C4-4A718A10EE23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205921" y="3895994"/>
            <a:ext cx="6030169" cy="562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06762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AACE41-7846-77E2-9E61-ABD7B40FFD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D6B44-117A-49D8-6866-0E1AA19CCD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664234"/>
          </a:xfrm>
        </p:spPr>
        <p:txBody>
          <a:bodyPr>
            <a:normAutofit/>
          </a:bodyPr>
          <a:lstStyle/>
          <a:p>
            <a:pPr algn="ctr"/>
            <a:r>
              <a:rPr lang="en-GB" sz="2800" b="1" dirty="0"/>
              <a:t>Task 2: Delivery Delay Analysis</a:t>
            </a:r>
            <a:endParaRPr lang="en-IN" sz="28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D2EDE5-B3A7-F41B-F425-27E4BECA64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656935"/>
            <a:ext cx="12192000" cy="420106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GB" sz="1200" b="1" dirty="0"/>
          </a:p>
          <a:p>
            <a:pPr marL="0" indent="0">
              <a:buNone/>
            </a:pPr>
            <a:r>
              <a:rPr lang="en-GB" sz="1400" dirty="0"/>
              <a:t>Transit time across shipments varies widely, ranging from approximately </a:t>
            </a:r>
            <a:r>
              <a:rPr lang="en-GB" sz="1400" b="1" dirty="0"/>
              <a:t>10 hours to 280 hours</a:t>
            </a:r>
            <a:r>
              <a:rPr lang="en-GB" sz="1400" dirty="0"/>
              <a:t>, indicating significant differences in route efficiency and operational conditions.</a:t>
            </a:r>
          </a:p>
          <a:p>
            <a:pPr marL="0" indent="0">
              <a:buNone/>
            </a:pPr>
            <a:r>
              <a:rPr lang="en-GB" sz="1400" dirty="0"/>
              <a:t>The overall </a:t>
            </a:r>
            <a:r>
              <a:rPr lang="en-GB" sz="1400" b="1" dirty="0"/>
              <a:t>average transit time is ~ 53.4 hours</a:t>
            </a:r>
            <a:r>
              <a:rPr lang="en-GB" sz="1400" dirty="0"/>
              <a:t>, highlighting opportunities to optimize slower routes and reduce delivery duration.</a:t>
            </a:r>
            <a:br>
              <a:rPr lang="en-GB" sz="1400" dirty="0"/>
            </a:br>
            <a:endParaRPr lang="en-GB" sz="1400" dirty="0"/>
          </a:p>
          <a:p>
            <a:pPr marL="0" indent="0">
              <a:buNone/>
            </a:pPr>
            <a:r>
              <a:rPr lang="en-GB" sz="1400" dirty="0"/>
              <a:t>The top 10 delayed routes show </a:t>
            </a:r>
            <a:r>
              <a:rPr lang="en-GB" sz="1400" b="1" dirty="0"/>
              <a:t>average delay hours ranging from ~21 to 41 hours</a:t>
            </a:r>
            <a:r>
              <a:rPr lang="en-GB" sz="1400" dirty="0"/>
              <a:t>, significantly higher than the overall average delay of </a:t>
            </a:r>
            <a:r>
              <a:rPr lang="en-GB" sz="1400" b="1" dirty="0"/>
              <a:t>~21.4 hours</a:t>
            </a:r>
            <a:r>
              <a:rPr lang="en-GB" sz="1400" dirty="0"/>
              <a:t>.</a:t>
            </a:r>
          </a:p>
          <a:p>
            <a:pPr marL="0" indent="0">
              <a:buNone/>
            </a:pPr>
            <a:r>
              <a:rPr lang="en-GB" sz="1400" dirty="0"/>
              <a:t>Route </a:t>
            </a:r>
            <a:r>
              <a:rPr lang="en-GB" sz="1400" b="1" dirty="0"/>
              <a:t>R002</a:t>
            </a:r>
            <a:r>
              <a:rPr lang="en-GB" sz="1400" dirty="0"/>
              <a:t> is the most delayed, with an average delay of approximately </a:t>
            </a:r>
            <a:r>
              <a:rPr lang="en-GB" sz="1400" b="1" dirty="0"/>
              <a:t>41 hours</a:t>
            </a:r>
            <a:r>
              <a:rPr lang="en-GB" sz="1400" dirty="0"/>
              <a:t>, indicating a major operational bottleneck.</a:t>
            </a:r>
          </a:p>
          <a:p>
            <a:pPr marL="0" indent="0">
              <a:buNone/>
            </a:pPr>
            <a:r>
              <a:rPr lang="en-GB" sz="1400" dirty="0"/>
              <a:t>Multiple routes consistently exceed </a:t>
            </a:r>
            <a:r>
              <a:rPr lang="en-GB" sz="1400" b="1" dirty="0"/>
              <a:t>30 hours of average delay</a:t>
            </a:r>
            <a:r>
              <a:rPr lang="en-GB" sz="1400" dirty="0"/>
              <a:t>, suggesting systemic issues such as congestion or unrealistic transit planning.</a:t>
            </a:r>
          </a:p>
          <a:p>
            <a:pPr marL="0" indent="0">
              <a:buNone/>
            </a:pPr>
            <a:r>
              <a:rPr lang="en-GB" sz="1400" dirty="0"/>
              <a:t>These routes should be prioritized for route redesign, SLA review, and capacity optimization to reduce delivery delays.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317A81C-1C87-57A5-F510-BD6844030D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4" y="569108"/>
            <a:ext cx="3594532" cy="81926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D426B38-F98D-8850-4911-9D4C823135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08" y="1470411"/>
            <a:ext cx="1771897" cy="179095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02812D10-1C59-2C88-024F-1F7DE4C051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59981" y="569108"/>
            <a:ext cx="2857899" cy="1848108"/>
          </a:xfrm>
          <a:prstGeom prst="rect">
            <a:avLst/>
          </a:prstGeom>
        </p:spPr>
      </p:pic>
      <p:graphicFrame>
        <p:nvGraphicFramePr>
          <p:cNvPr id="19" name="Chart 18">
            <a:extLst>
              <a:ext uri="{FF2B5EF4-FFF2-40B4-BE49-F238E27FC236}">
                <a16:creationId xmlns:a16="http://schemas.microsoft.com/office/drawing/2014/main" id="{EAF04A95-7147-841A-AC71-317227EC283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47318182"/>
              </p:ext>
            </p:extLst>
          </p:nvPr>
        </p:nvGraphicFramePr>
        <p:xfrm>
          <a:off x="6717880" y="783946"/>
          <a:ext cx="5057775" cy="32670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7409C4C9-6659-1A1F-F8CE-2494B87C794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59981" y="2448086"/>
            <a:ext cx="2008108" cy="107647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FA17F33-1A57-04EF-6D03-4BFEE8FB9A8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08" y="3322665"/>
            <a:ext cx="3211488" cy="779752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931D562E-A214-562D-FF74-979751AEC23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54713" y="1950025"/>
            <a:ext cx="1638529" cy="75258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B4A276B9-2546-3799-5313-CDFC04D0DC1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59981" y="3564628"/>
            <a:ext cx="1629002" cy="666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49423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FE685E-EEA9-5FDB-D0C1-DE81B44561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664234"/>
          </a:xfrm>
        </p:spPr>
        <p:txBody>
          <a:bodyPr>
            <a:normAutofit/>
          </a:bodyPr>
          <a:lstStyle/>
          <a:p>
            <a:pPr algn="ctr"/>
            <a:r>
              <a:rPr lang="en-GB" sz="2800" b="1" dirty="0"/>
              <a:t>Task 2: Delivery Delay Analysis</a:t>
            </a:r>
            <a:endParaRPr lang="en-IN" sz="28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8C6B34-7BEC-7AF0-9563-F96A3F12D4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524125"/>
            <a:ext cx="12192000" cy="4333874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</a:pPr>
            <a:endParaRPr lang="en-IN" dirty="0"/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</a:pPr>
            <a:endParaRPr lang="en-IN" sz="14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GB" sz="1400" dirty="0"/>
              <a:t>Within each warehouse, shipments were ranked by delay, revealing that the </a:t>
            </a:r>
            <a:r>
              <a:rPr lang="en-GB" sz="1400" b="1" dirty="0"/>
              <a:t>top-ranked shipments account for the highest delay hours</a:t>
            </a:r>
            <a:r>
              <a:rPr lang="en-GB" sz="1400" dirty="0"/>
              <a:t> compared to</a:t>
            </a:r>
            <a:br>
              <a:rPr lang="en-GB" sz="1400" dirty="0"/>
            </a:br>
            <a:r>
              <a:rPr lang="en-GB" sz="1400" dirty="0"/>
              <a:t>others.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GB" sz="1400" dirty="0"/>
              <a:t>In several warehouses, the </a:t>
            </a:r>
            <a:r>
              <a:rPr lang="en-GB" sz="1400" b="1" dirty="0"/>
              <a:t>top 1–2 shipments show delays multiple times higher</a:t>
            </a:r>
            <a:r>
              <a:rPr lang="en-GB" sz="1400" dirty="0"/>
              <a:t> than the warehouse average.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GB" sz="1400" dirty="0"/>
              <a:t>This ranking enables warehouses to focus on a </a:t>
            </a:r>
            <a:r>
              <a:rPr lang="en-GB" sz="1400" b="1" dirty="0"/>
              <a:t>small number of high-delay shipments</a:t>
            </a:r>
            <a:r>
              <a:rPr lang="en-GB" sz="1400" dirty="0"/>
              <a:t> that drive a majority of delay impact.</a:t>
            </a:r>
            <a:br>
              <a:rPr lang="en-GB" sz="1400" dirty="0"/>
            </a:br>
            <a:endParaRPr lang="en-GB" sz="1400" dirty="0"/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GB" sz="1400" b="1" dirty="0"/>
              <a:t>Express deliveries</a:t>
            </a:r>
            <a:r>
              <a:rPr lang="en-GB" sz="1400" dirty="0"/>
              <a:t> have a higher average delay of approximately </a:t>
            </a:r>
            <a:r>
              <a:rPr lang="en-GB" sz="1400" b="1" dirty="0"/>
              <a:t>22.5 hours</a:t>
            </a:r>
            <a:r>
              <a:rPr lang="en-GB" sz="1400" dirty="0"/>
              <a:t> compared to </a:t>
            </a:r>
            <a:r>
              <a:rPr lang="en-GB" sz="1400" b="1" dirty="0"/>
              <a:t>20.9 hours</a:t>
            </a:r>
            <a:r>
              <a:rPr lang="en-GB" sz="1400" dirty="0"/>
              <a:t> for </a:t>
            </a:r>
            <a:r>
              <a:rPr lang="en-GB" sz="1400" b="1" dirty="0"/>
              <a:t>Standard deliveries</a:t>
            </a:r>
            <a:r>
              <a:rPr lang="en-GB" sz="1400" dirty="0"/>
              <a:t>.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GB" sz="1400" dirty="0"/>
              <a:t>Both delivery types are close to the overall average delay of </a:t>
            </a:r>
            <a:r>
              <a:rPr lang="en-GB" sz="1400" b="1" dirty="0"/>
              <a:t>~21.4 hours</a:t>
            </a:r>
            <a:r>
              <a:rPr lang="en-GB" sz="1400" dirty="0"/>
              <a:t>, indicating system-wide delay factors.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GB" sz="1400" dirty="0"/>
              <a:t>Despite premium positioning, </a:t>
            </a:r>
            <a:r>
              <a:rPr lang="en-GB" sz="1400" b="1" dirty="0"/>
              <a:t>Express shipments require focused optimization</a:t>
            </a:r>
            <a:r>
              <a:rPr lang="en-GB" sz="1400" dirty="0"/>
              <a:t> to meet faster service-level expectations.</a:t>
            </a:r>
            <a:endParaRPr lang="en-GB" sz="1400" b="1" dirty="0"/>
          </a:p>
          <a:p>
            <a:pPr marL="0" indent="0">
              <a:buNone/>
            </a:pPr>
            <a:endParaRPr lang="en-IN" sz="1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A187748-042B-7B70-468B-F6BEB65B60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035" y="664234"/>
            <a:ext cx="5401429" cy="64779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FDED21A-AA4F-55A1-59C2-B6E97769F5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035" y="1499377"/>
            <a:ext cx="2667372" cy="261021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8622F24-00D1-0811-1E10-24CAF8B74B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1638" y="664234"/>
            <a:ext cx="3134162" cy="1247949"/>
          </a:xfrm>
          <a:prstGeom prst="rect">
            <a:avLst/>
          </a:prstGeom>
        </p:spPr>
      </p:pic>
      <p:graphicFrame>
        <p:nvGraphicFramePr>
          <p:cNvPr id="12" name="Chart 11">
            <a:extLst>
              <a:ext uri="{FF2B5EF4-FFF2-40B4-BE49-F238E27FC236}">
                <a16:creationId xmlns:a16="http://schemas.microsoft.com/office/drawing/2014/main" id="{35050D9E-5AA7-473B-6C5F-E63DBAFEFAE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6884593"/>
              </p:ext>
            </p:extLst>
          </p:nvPr>
        </p:nvGraphicFramePr>
        <p:xfrm>
          <a:off x="5699201" y="2095498"/>
          <a:ext cx="4759036" cy="207472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34497967-5A30-3FC8-3820-7A0FC18FC3E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38065" y="1854077"/>
            <a:ext cx="1629002" cy="666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73560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F3E22B-BE0C-1A69-7719-287C617875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537269-24D4-15A5-2015-60356FB5D7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92364"/>
            <a:ext cx="10515600" cy="1108364"/>
          </a:xfrm>
        </p:spPr>
        <p:txBody>
          <a:bodyPr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en-GB" sz="2800" b="1" dirty="0"/>
              <a:t>Task 2: Delivery Delay Analysis</a:t>
            </a:r>
            <a:br>
              <a:rPr lang="en-GB" sz="2800" b="1" dirty="0"/>
            </a:br>
            <a:r>
              <a:rPr lang="en-IN" sz="1800" b="1" dirty="0"/>
              <a:t>(KEY INSIGHTS &amp; RECOMMENDATIONS)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4C68CB-3075-44E3-1373-7A8B8A0C77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256145"/>
            <a:ext cx="12192000" cy="560185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1400" b="1" dirty="0"/>
              <a:t>       </a:t>
            </a:r>
            <a:r>
              <a:rPr lang="en-GB" sz="1800" b="1" dirty="0"/>
              <a:t>Key Insights</a:t>
            </a:r>
          </a:p>
          <a:p>
            <a:r>
              <a:rPr lang="en-GB" sz="1400" dirty="0"/>
              <a:t>The </a:t>
            </a:r>
            <a:r>
              <a:rPr lang="en-GB" sz="1400" b="1" dirty="0"/>
              <a:t>overall average delivery delay is ~21.4 hours</a:t>
            </a:r>
            <a:r>
              <a:rPr lang="en-GB" sz="1400" dirty="0"/>
              <a:t>, indicating notable inefficiencies in the delivery network.</a:t>
            </a:r>
          </a:p>
          <a:p>
            <a:r>
              <a:rPr lang="en-GB" sz="1400" b="1" dirty="0"/>
              <a:t>Top delayed routes</a:t>
            </a:r>
            <a:r>
              <a:rPr lang="en-GB" sz="1400" dirty="0"/>
              <a:t> show average delays ranging from </a:t>
            </a:r>
            <a:r>
              <a:rPr lang="en-GB" sz="1400" b="1" dirty="0"/>
              <a:t>~21 to 41 hours</a:t>
            </a:r>
            <a:r>
              <a:rPr lang="en-GB" sz="1400" dirty="0"/>
              <a:t>, with </a:t>
            </a:r>
            <a:r>
              <a:rPr lang="en-GB" sz="1400" b="1" dirty="0"/>
              <a:t>Route R002 (~41 hours)</a:t>
            </a:r>
            <a:r>
              <a:rPr lang="en-GB" sz="1400" dirty="0"/>
              <a:t> being the most critical bottleneck.</a:t>
            </a:r>
          </a:p>
          <a:p>
            <a:r>
              <a:rPr lang="en-GB" sz="1400" b="1" dirty="0"/>
              <a:t>Express deliveries (22.5 hours)</a:t>
            </a:r>
            <a:r>
              <a:rPr lang="en-GB" sz="1400" dirty="0"/>
              <a:t> experience slightly higher delays than </a:t>
            </a:r>
            <a:r>
              <a:rPr lang="en-GB" sz="1400" b="1" dirty="0"/>
              <a:t>Standard deliveries (20.9 hours)</a:t>
            </a:r>
            <a:r>
              <a:rPr lang="en-GB" sz="1400" dirty="0"/>
              <a:t>, despite premium service expectations.</a:t>
            </a:r>
          </a:p>
          <a:p>
            <a:r>
              <a:rPr lang="en-GB" sz="1400" dirty="0"/>
              <a:t>Shipment-level ranking reveals that </a:t>
            </a:r>
            <a:r>
              <a:rPr lang="en-GB" sz="1400" b="1" dirty="0"/>
              <a:t>a small number of highly delayed shipments</a:t>
            </a:r>
            <a:r>
              <a:rPr lang="en-GB" sz="1400" dirty="0"/>
              <a:t> significantly impact warehouse and route performance.</a:t>
            </a:r>
          </a:p>
          <a:p>
            <a:pPr marL="0" indent="0">
              <a:buNone/>
            </a:pPr>
            <a:endParaRPr lang="en-GB" sz="1400" dirty="0"/>
          </a:p>
          <a:p>
            <a:pPr marL="0" indent="0">
              <a:buNone/>
            </a:pPr>
            <a:r>
              <a:rPr lang="en-GB" sz="1400" b="1" dirty="0"/>
              <a:t>      </a:t>
            </a:r>
            <a:r>
              <a:rPr lang="en-GB" sz="1800" b="1" dirty="0"/>
              <a:t>Business Recommendations</a:t>
            </a:r>
          </a:p>
          <a:p>
            <a:r>
              <a:rPr lang="en-GB" sz="1400" b="1" dirty="0"/>
              <a:t>Prioritize optimization of high-delay routes</a:t>
            </a:r>
            <a:r>
              <a:rPr lang="en-GB" sz="1400" dirty="0"/>
              <a:t> (especially those exceeding 30+ hours average delay) through route redesign and SLA review.</a:t>
            </a:r>
          </a:p>
          <a:p>
            <a:r>
              <a:rPr lang="en-GB" sz="1400" b="1" dirty="0"/>
              <a:t>Improve Express delivery operations</a:t>
            </a:r>
            <a:r>
              <a:rPr lang="en-GB" sz="1400" dirty="0"/>
              <a:t> by reallocating resources and tightening monitoring to meet promised service levels.</a:t>
            </a:r>
          </a:p>
          <a:p>
            <a:r>
              <a:rPr lang="en-GB" sz="1400" b="1" dirty="0"/>
              <a:t>Focus corrective actions on top-ranked delayed shipments</a:t>
            </a:r>
            <a:r>
              <a:rPr lang="en-GB" sz="1400" dirty="0"/>
              <a:t> within each warehouse to reduce overall delay impact efficiently.</a:t>
            </a:r>
          </a:p>
          <a:p>
            <a:r>
              <a:rPr lang="en-GB" sz="1400" dirty="0"/>
              <a:t>Regularly monitor delay trends to proactively identify emerging bottlenecks and prevent systemic delays.</a:t>
            </a:r>
          </a:p>
          <a:p>
            <a:pPr marL="0" indent="0">
              <a:buNone/>
            </a:pPr>
            <a:endParaRPr lang="en-IN" sz="1400" dirty="0"/>
          </a:p>
          <a:p>
            <a:pPr marL="0" indent="0">
              <a:buNone/>
            </a:pPr>
            <a:r>
              <a:rPr lang="en-GB" sz="1800" b="1" dirty="0"/>
              <a:t>     Outcome Expected</a:t>
            </a:r>
          </a:p>
          <a:p>
            <a:r>
              <a:rPr lang="en-GB" sz="1400" dirty="0"/>
              <a:t>Improved delivery reliability</a:t>
            </a:r>
          </a:p>
          <a:p>
            <a:r>
              <a:rPr lang="en-GB" sz="1400" dirty="0"/>
              <a:t>Better SLA compliance</a:t>
            </a:r>
          </a:p>
          <a:p>
            <a:r>
              <a:rPr lang="en-GB" sz="1400" dirty="0"/>
              <a:t>Reduced operational delays</a:t>
            </a:r>
          </a:p>
          <a:p>
            <a:r>
              <a:rPr lang="en-GB" sz="1400" dirty="0"/>
              <a:t>Enhanced customer satisfaction</a:t>
            </a:r>
          </a:p>
          <a:p>
            <a:pPr marL="0" indent="0">
              <a:buNone/>
            </a:pPr>
            <a:endParaRPr lang="en-IN" sz="1400" dirty="0"/>
          </a:p>
          <a:p>
            <a:pPr marL="0" indent="0">
              <a:buNone/>
            </a:pPr>
            <a:endParaRPr lang="en-IN" dirty="0"/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</a:pPr>
            <a:endParaRPr lang="en-IN" dirty="0"/>
          </a:p>
          <a:p>
            <a:pPr marL="0" indent="0">
              <a:buNone/>
            </a:pP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12877967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83E84E-5298-4AAE-08A3-F967F0F9F9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B2D6C8-925E-B6E3-B9FD-B22FC82EF6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664234"/>
          </a:xfrm>
        </p:spPr>
        <p:txBody>
          <a:bodyPr>
            <a:normAutofit/>
          </a:bodyPr>
          <a:lstStyle/>
          <a:p>
            <a:pPr algn="ctr"/>
            <a:r>
              <a:rPr lang="en-GB" sz="2800" b="1" dirty="0"/>
              <a:t>Task 3: Route Optimization Insights</a:t>
            </a:r>
            <a:endParaRPr lang="en-IN" sz="28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BCAA30-D407-9F4D-8241-7A174F02A3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524125"/>
            <a:ext cx="12192000" cy="4333874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GB" sz="1400" dirty="0"/>
          </a:p>
          <a:p>
            <a:pPr marL="0" indent="0">
              <a:buNone/>
            </a:pPr>
            <a:r>
              <a:rPr lang="en-GB" sz="1400" dirty="0"/>
              <a:t>The </a:t>
            </a:r>
            <a:r>
              <a:rPr lang="en-GB" sz="1400" b="1" dirty="0"/>
              <a:t>overall average transit time is ~53.4 hours</a:t>
            </a:r>
            <a:r>
              <a:rPr lang="en-GB" sz="1400" dirty="0"/>
              <a:t>, serving as a benchmark for route performance.</a:t>
            </a:r>
            <a:br>
              <a:rPr lang="en-GB" sz="1400" dirty="0"/>
            </a:br>
            <a:br>
              <a:rPr lang="en-GB" sz="1400" dirty="0"/>
            </a:br>
            <a:r>
              <a:rPr lang="en-GB" sz="1400" dirty="0"/>
              <a:t>Significant variation exists across routes, with average transit times ranging from </a:t>
            </a:r>
            <a:r>
              <a:rPr lang="en-GB" sz="1400" b="1" dirty="0"/>
              <a:t>~28.6 hours to ~84.3 hours</a:t>
            </a:r>
            <a:r>
              <a:rPr lang="en-GB" sz="1400" dirty="0"/>
              <a:t>.</a:t>
            </a:r>
            <a:br>
              <a:rPr lang="en-GB" sz="1400" dirty="0"/>
            </a:br>
            <a:br>
              <a:rPr lang="en-GB" sz="1400" dirty="0"/>
            </a:br>
            <a:r>
              <a:rPr lang="en-GB" sz="1400" dirty="0"/>
              <a:t>Routes such as </a:t>
            </a:r>
            <a:r>
              <a:rPr lang="en-GB" sz="1400" b="1" dirty="0"/>
              <a:t>R004 (~84.3 hours)</a:t>
            </a:r>
            <a:r>
              <a:rPr lang="en-GB" sz="1400" dirty="0"/>
              <a:t> and </a:t>
            </a:r>
            <a:r>
              <a:rPr lang="en-GB" sz="1400" b="1" dirty="0"/>
              <a:t>R018 (~76.2 hours)</a:t>
            </a:r>
            <a:r>
              <a:rPr lang="en-GB" sz="1400" dirty="0"/>
              <a:t> exhibit the highest transit times, indicating long-haul or inefficient routing.</a:t>
            </a:r>
            <a:br>
              <a:rPr lang="en-GB" sz="1400" dirty="0"/>
            </a:br>
            <a:br>
              <a:rPr lang="en-GB" sz="1400" dirty="0"/>
            </a:br>
            <a:r>
              <a:rPr lang="en-GB" sz="1400" dirty="0"/>
              <a:t>In contrast, routes like </a:t>
            </a:r>
            <a:r>
              <a:rPr lang="en-GB" sz="1400" b="1" dirty="0"/>
              <a:t>R015 (~28.6 hours)</a:t>
            </a:r>
            <a:r>
              <a:rPr lang="en-GB" sz="1400" dirty="0"/>
              <a:t> and </a:t>
            </a:r>
            <a:r>
              <a:rPr lang="en-GB" sz="1400" b="1" dirty="0"/>
              <a:t>R009 (~28.7 hours)</a:t>
            </a:r>
            <a:r>
              <a:rPr lang="en-GB" sz="1400" dirty="0"/>
              <a:t> demonstrate relatively faster delivery performance.</a:t>
            </a:r>
            <a:br>
              <a:rPr lang="en-GB" sz="1400" dirty="0"/>
            </a:br>
            <a:br>
              <a:rPr lang="en-GB" sz="1400" dirty="0"/>
            </a:br>
            <a:r>
              <a:rPr lang="en-GB" sz="1400" dirty="0"/>
              <a:t>Several routes exceed </a:t>
            </a:r>
            <a:r>
              <a:rPr lang="en-GB" sz="1400" b="1" dirty="0"/>
              <a:t>60+ hours</a:t>
            </a:r>
            <a:r>
              <a:rPr lang="en-GB" sz="1400" dirty="0"/>
              <a:t>, suggesting potential congestion, distance challenges, or operational bottlenecks.</a:t>
            </a:r>
            <a:br>
              <a:rPr lang="en-GB" sz="1400" dirty="0"/>
            </a:br>
            <a:br>
              <a:rPr lang="en-GB" sz="1400" dirty="0"/>
            </a:br>
            <a:r>
              <a:rPr lang="en-GB" sz="1400" dirty="0"/>
              <a:t>These high-transit routes should be prioritized for optimization through route redesign, capacity planning, or revised transit expectations.</a:t>
            </a:r>
            <a:endParaRPr lang="en-IN" sz="1400" dirty="0"/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</a:pPr>
            <a:endParaRPr lang="en-GB" sz="1200" b="1" dirty="0"/>
          </a:p>
          <a:p>
            <a:pPr marL="0" indent="0">
              <a:buNone/>
            </a:pPr>
            <a:endParaRPr lang="en-IN" dirty="0"/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6C5C9304-5DD6-236D-8F48-1CD4DB258E4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16557939"/>
              </p:ext>
            </p:extLst>
          </p:nvPr>
        </p:nvGraphicFramePr>
        <p:xfrm>
          <a:off x="2788647" y="741113"/>
          <a:ext cx="9124432" cy="3149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96EE074C-E9ED-D83A-5EF8-57148D393D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954" y="387209"/>
            <a:ext cx="2438740" cy="257210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04BC5D2-8CF2-45FD-ABC3-52B4B728C0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5059" y="3052710"/>
            <a:ext cx="1638529" cy="752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81802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2106F0-9B44-BD8E-38F8-B0B1F1A0E1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2E0AF0-F896-DC82-35E5-51C22345EB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664234"/>
          </a:xfrm>
        </p:spPr>
        <p:txBody>
          <a:bodyPr>
            <a:normAutofit/>
          </a:bodyPr>
          <a:lstStyle/>
          <a:p>
            <a:pPr algn="ctr"/>
            <a:r>
              <a:rPr lang="en-GB" sz="2800" b="1" dirty="0"/>
              <a:t>Task 3: Route Optimization Insights</a:t>
            </a:r>
            <a:endParaRPr lang="en-IN" sz="28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CB6532-DE22-DBAE-782C-AEC4E33A5D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524125"/>
            <a:ext cx="12192000" cy="4333874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lnSpc>
                <a:spcPct val="100000"/>
              </a:lnSpc>
              <a:buNone/>
            </a:pPr>
            <a:br>
              <a:rPr lang="en-GB" sz="1400" dirty="0"/>
            </a:br>
            <a:endParaRPr lang="en-GB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GB" sz="1400" dirty="0"/>
              <a:t>The </a:t>
            </a:r>
            <a:r>
              <a:rPr lang="en-GB" sz="1400" b="1" dirty="0"/>
              <a:t>overall average delay is ~21.4 hours</a:t>
            </a:r>
            <a:r>
              <a:rPr lang="en-GB" sz="1400" dirty="0"/>
              <a:t>, serving as a baseline to compare route performance.</a:t>
            </a:r>
            <a:br>
              <a:rPr lang="en-GB" sz="1400" dirty="0"/>
            </a:br>
            <a:r>
              <a:rPr lang="en-GB" sz="1400" dirty="0"/>
              <a:t>Routes such as </a:t>
            </a:r>
            <a:r>
              <a:rPr lang="en-GB" sz="1400" b="1" dirty="0"/>
              <a:t>R002 (~41 hours)</a:t>
            </a:r>
            <a:r>
              <a:rPr lang="en-GB" sz="1400" dirty="0"/>
              <a:t> and </a:t>
            </a:r>
            <a:r>
              <a:rPr lang="en-GB" sz="1400" b="1" dirty="0"/>
              <a:t>R007 (~34 hours)</a:t>
            </a:r>
            <a:r>
              <a:rPr lang="en-GB" sz="1400" dirty="0"/>
              <a:t> experience the highest average delays, indicating major operational inefficiencies.</a:t>
            </a:r>
            <a:br>
              <a:rPr lang="en-GB" sz="1400" dirty="0"/>
            </a:br>
            <a:r>
              <a:rPr lang="en-GB" sz="1400" dirty="0"/>
              <a:t>Several routes consistently exceed </a:t>
            </a:r>
            <a:r>
              <a:rPr lang="en-GB" sz="1400" b="1" dirty="0"/>
              <a:t>30 hours of delay</a:t>
            </a:r>
            <a:r>
              <a:rPr lang="en-GB" sz="1400" dirty="0"/>
              <a:t>, highlighting the need for targeted route optimization.</a:t>
            </a:r>
            <a:br>
              <a:rPr lang="en-GB" sz="1400" dirty="0"/>
            </a:br>
            <a:r>
              <a:rPr lang="en-GB" sz="1400" dirty="0"/>
              <a:t>Lower-delay routes (below </a:t>
            </a:r>
            <a:r>
              <a:rPr lang="en-GB" sz="1400" b="1" dirty="0"/>
              <a:t>10 hours</a:t>
            </a:r>
            <a:r>
              <a:rPr lang="en-GB" sz="1400" dirty="0"/>
              <a:t>) demonstrate more stable and efficient delivery performance.</a:t>
            </a:r>
            <a:endParaRPr lang="en-GB" sz="1200" b="1" dirty="0"/>
          </a:p>
          <a:p>
            <a:pPr marL="0" indent="0">
              <a:lnSpc>
                <a:spcPct val="100000"/>
              </a:lnSpc>
              <a:buNone/>
            </a:pPr>
            <a:r>
              <a:rPr lang="en-GB" sz="1400" dirty="0"/>
              <a:t>The distance-to-time efficiency ratio varies widely across routes, ranging from approximately </a:t>
            </a:r>
            <a:r>
              <a:rPr lang="en-GB" sz="1400" b="1" dirty="0"/>
              <a:t>38 km/hr to over 545 km/hr</a:t>
            </a:r>
            <a:r>
              <a:rPr lang="en-GB" sz="1400" dirty="0"/>
              <a:t>.</a:t>
            </a:r>
            <a:br>
              <a:rPr lang="en-GB" sz="1400" dirty="0"/>
            </a:br>
            <a:r>
              <a:rPr lang="en-GB" sz="1400" dirty="0"/>
              <a:t>Routes such as </a:t>
            </a:r>
            <a:r>
              <a:rPr lang="en-GB" sz="1400" b="1" dirty="0"/>
              <a:t>R019 (~545 km/hr)</a:t>
            </a:r>
            <a:r>
              <a:rPr lang="en-GB" sz="1400" dirty="0"/>
              <a:t> and </a:t>
            </a:r>
            <a:r>
              <a:rPr lang="en-GB" sz="1400" b="1" dirty="0"/>
              <a:t>R010 (~540 km/hr)</a:t>
            </a:r>
            <a:r>
              <a:rPr lang="en-GB" sz="1400" dirty="0"/>
              <a:t> demonstrate the highest efficiency, indicating faster movement per hour.</a:t>
            </a:r>
            <a:br>
              <a:rPr lang="en-GB" sz="1400" dirty="0"/>
            </a:br>
            <a:r>
              <a:rPr lang="en-GB" sz="1400" dirty="0"/>
              <a:t>In contrast, routes like </a:t>
            </a:r>
            <a:r>
              <a:rPr lang="en-GB" sz="1400" b="1" dirty="0"/>
              <a:t>R003 (~38 km/hr)</a:t>
            </a:r>
            <a:r>
              <a:rPr lang="en-GB" sz="1400" dirty="0"/>
              <a:t> and </a:t>
            </a:r>
            <a:r>
              <a:rPr lang="en-GB" sz="1400" b="1" dirty="0"/>
              <a:t>R015 (~53 km/hr)</a:t>
            </a:r>
            <a:r>
              <a:rPr lang="en-GB" sz="1400" dirty="0"/>
              <a:t> show low efficiency, suggesting congestion or operational delays.</a:t>
            </a:r>
            <a:br>
              <a:rPr lang="en-GB" sz="1400" dirty="0"/>
            </a:br>
            <a:r>
              <a:rPr lang="en-GB" sz="1400" dirty="0"/>
              <a:t>Low-efficiency routes should be prioritized for optimization to improve overall delivery performance.</a:t>
            </a:r>
            <a:endParaRPr lang="en-IN" sz="14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2449620-CF6D-5E99-A8F9-B7EA740508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286" y="741113"/>
            <a:ext cx="2019582" cy="137179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990D950-B384-62E2-15A0-56399933CD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287" y="2779518"/>
            <a:ext cx="2019582" cy="1057423"/>
          </a:xfrm>
          <a:prstGeom prst="rect">
            <a:avLst/>
          </a:prstGeom>
        </p:spPr>
      </p:pic>
      <p:graphicFrame>
        <p:nvGraphicFramePr>
          <p:cNvPr id="15" name="Chart 14">
            <a:extLst>
              <a:ext uri="{FF2B5EF4-FFF2-40B4-BE49-F238E27FC236}">
                <a16:creationId xmlns:a16="http://schemas.microsoft.com/office/drawing/2014/main" id="{E699C288-E4B4-FD63-36FE-A072752F00D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85946888"/>
              </p:ext>
            </p:extLst>
          </p:nvPr>
        </p:nvGraphicFramePr>
        <p:xfrm>
          <a:off x="2416156" y="2524125"/>
          <a:ext cx="9448162" cy="16829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A8A58E59-A01F-0954-474C-C31466EFFA7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58437815"/>
              </p:ext>
            </p:extLst>
          </p:nvPr>
        </p:nvGraphicFramePr>
        <p:xfrm>
          <a:off x="2416156" y="664234"/>
          <a:ext cx="9448162" cy="185989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5F60A217-ECFC-9E0F-A25D-DC5CBCC398D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02403" y="760165"/>
            <a:ext cx="1629002" cy="666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69478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39FDFF-4008-10D1-66EA-2D6B7B083F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96C58-FC3B-E20D-146C-746EA28A4F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664234"/>
          </a:xfrm>
        </p:spPr>
        <p:txBody>
          <a:bodyPr>
            <a:normAutofit/>
          </a:bodyPr>
          <a:lstStyle/>
          <a:p>
            <a:pPr algn="ctr"/>
            <a:r>
              <a:rPr lang="en-GB" sz="2800" b="1" dirty="0"/>
              <a:t>Task 3: Route Optimization Insights</a:t>
            </a:r>
            <a:endParaRPr lang="en-IN" sz="28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C7B19C-A544-B986-9AFB-78DCA8504B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524125"/>
            <a:ext cx="12192000" cy="4333874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</a:pPr>
            <a:endParaRPr lang="en-GB" sz="14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endParaRPr lang="en-GB" sz="14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GB" sz="1400" dirty="0"/>
              <a:t>The three least efficient routes are </a:t>
            </a:r>
            <a:r>
              <a:rPr lang="en-GB" sz="1400" b="1" dirty="0"/>
              <a:t>R003 (~37.7 km/hr)</a:t>
            </a:r>
            <a:r>
              <a:rPr lang="en-GB" sz="1400" dirty="0"/>
              <a:t>, </a:t>
            </a:r>
            <a:r>
              <a:rPr lang="en-GB" sz="1400" b="1" dirty="0"/>
              <a:t>R015 (~52.7 km/hr)</a:t>
            </a:r>
            <a:r>
              <a:rPr lang="en-GB" sz="1400" dirty="0"/>
              <a:t>, and </a:t>
            </a:r>
            <a:r>
              <a:rPr lang="en-GB" sz="1400" b="1" dirty="0"/>
              <a:t>R006 (~101.5 km/hr)</a:t>
            </a:r>
            <a:r>
              <a:rPr lang="en-GB" sz="1400" dirty="0"/>
              <a:t>, indicating slow movement relative to distance.</a:t>
            </a:r>
            <a:br>
              <a:rPr lang="en-GB" sz="1400" dirty="0"/>
            </a:br>
            <a:r>
              <a:rPr lang="en-GB" sz="1400" dirty="0"/>
              <a:t>These routes fall well below the efficiency levels of most other routes, highlighting significant operational bottlenecks.</a:t>
            </a:r>
            <a:br>
              <a:rPr lang="en-GB" sz="1400" dirty="0"/>
            </a:br>
            <a:r>
              <a:rPr lang="en-GB" sz="1400" dirty="0"/>
              <a:t>Prioritizing optimization for these routes can help reduce transit time and improve overall network efficiency.</a:t>
            </a:r>
            <a:endParaRPr lang="en-GB" sz="1400" b="1" dirty="0"/>
          </a:p>
          <a:p>
            <a:pPr marL="0" indent="0">
              <a:lnSpc>
                <a:spcPct val="100000"/>
              </a:lnSpc>
              <a:buNone/>
            </a:pPr>
            <a:r>
              <a:rPr lang="en-GB" sz="1400" dirty="0"/>
              <a:t>All analysed routes show </a:t>
            </a:r>
            <a:r>
              <a:rPr lang="en-GB" sz="1400" b="1" dirty="0"/>
              <a:t>delay percentages well above 20%</a:t>
            </a:r>
            <a:r>
              <a:rPr lang="en-GB" sz="1400" dirty="0"/>
              <a:t>, with values ranging from approximately </a:t>
            </a:r>
            <a:r>
              <a:rPr lang="en-GB" sz="1400" b="1" dirty="0"/>
              <a:t>82% to nearly 100%</a:t>
            </a:r>
            <a:r>
              <a:rPr lang="en-GB" sz="1400" dirty="0"/>
              <a:t>.</a:t>
            </a:r>
            <a:br>
              <a:rPr lang="en-GB" sz="1400" dirty="0"/>
            </a:br>
            <a:r>
              <a:rPr lang="en-GB" sz="1400" dirty="0"/>
              <a:t>Several routes, including </a:t>
            </a:r>
            <a:r>
              <a:rPr lang="en-GB" sz="1400" b="1" dirty="0"/>
              <a:t>R009, R012, and R010</a:t>
            </a:r>
            <a:r>
              <a:rPr lang="en-GB" sz="1400" dirty="0"/>
              <a:t>, exhibit </a:t>
            </a:r>
            <a:r>
              <a:rPr lang="en-GB" sz="1400" b="1" dirty="0"/>
              <a:t>extremely high delay rates (&gt;98%)</a:t>
            </a:r>
            <a:r>
              <a:rPr lang="en-GB" sz="1400" dirty="0"/>
              <a:t>, indicating persistent SLA breaches.</a:t>
            </a:r>
            <a:br>
              <a:rPr lang="en-GB" sz="1400" dirty="0"/>
            </a:br>
            <a:r>
              <a:rPr lang="en-GB" sz="1400" dirty="0"/>
              <a:t>Such consistently high delay percentages suggest systemic issues in route planning or expected transit time assumptions.</a:t>
            </a:r>
            <a:br>
              <a:rPr lang="en-GB" sz="1400" dirty="0"/>
            </a:br>
            <a:r>
              <a:rPr lang="en-GB" sz="1400" dirty="0"/>
              <a:t>These routes should be prioritized for immediate review, SLA recalibration, and operational optimization.</a:t>
            </a:r>
            <a:endParaRPr lang="en-IN" sz="1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3A789CE-40D0-8070-FFF9-F4DBF18F8D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510" y="619631"/>
            <a:ext cx="2325650" cy="1470660"/>
          </a:xfrm>
          <a:prstGeom prst="rect">
            <a:avLst/>
          </a:prstGeom>
        </p:spPr>
      </p:pic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3464D728-0C70-E905-7F92-E58ACA6E402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86225417"/>
              </p:ext>
            </p:extLst>
          </p:nvPr>
        </p:nvGraphicFramePr>
        <p:xfrm>
          <a:off x="0" y="2208711"/>
          <a:ext cx="2448267" cy="244476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8D689C4D-BCF4-D277-3B8E-469B357135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70670" y="619631"/>
            <a:ext cx="2448267" cy="4033850"/>
          </a:xfrm>
          <a:prstGeom prst="rect">
            <a:avLst/>
          </a:prstGeom>
        </p:spPr>
      </p:pic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A4C7285A-41B2-4AC0-E116-ACFA46445EE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81921514"/>
              </p:ext>
            </p:extLst>
          </p:nvPr>
        </p:nvGraphicFramePr>
        <p:xfrm>
          <a:off x="5018937" y="619631"/>
          <a:ext cx="7050553" cy="40338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40572922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5F4E1D-9A13-16CE-1B00-0C02CC6135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28F9CE-5E12-127D-8FFF-B2778090FA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232912"/>
            <a:ext cx="10515600" cy="1337093"/>
          </a:xfrm>
        </p:spPr>
        <p:txBody>
          <a:bodyPr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en-GB" sz="2800" b="1" dirty="0"/>
              <a:t>Task 3: Route Optimization Insights</a:t>
            </a:r>
            <a:br>
              <a:rPr lang="en-GB" sz="2800" b="1" dirty="0"/>
            </a:br>
            <a:r>
              <a:rPr lang="en-IN" sz="1800" b="1" dirty="0"/>
              <a:t>(KEY INSIGHTS &amp; RECOMMENDATIONS)</a:t>
            </a:r>
            <a:endParaRPr lang="en-IN" sz="28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F50B3D-3F67-FAEB-F66A-56349784C5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207698"/>
            <a:ext cx="12192000" cy="565030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1400" b="1" dirty="0"/>
              <a:t>       </a:t>
            </a:r>
            <a:r>
              <a:rPr lang="en-GB" sz="1800" b="1" dirty="0"/>
              <a:t>Key Insights</a:t>
            </a:r>
          </a:p>
          <a:p>
            <a:r>
              <a:rPr lang="en-GB" sz="1400" dirty="0"/>
              <a:t>The </a:t>
            </a:r>
            <a:r>
              <a:rPr lang="en-GB" sz="1400" b="1" dirty="0"/>
              <a:t>overall average transit time is ~53.4 hours</a:t>
            </a:r>
            <a:r>
              <a:rPr lang="en-GB" sz="1400" dirty="0"/>
              <a:t>, with significant variation across routes ranging from </a:t>
            </a:r>
            <a:r>
              <a:rPr lang="en-GB" sz="1400" b="1" dirty="0"/>
              <a:t>~28.6 to ~84.3 hours</a:t>
            </a:r>
            <a:r>
              <a:rPr lang="en-GB" sz="1400" dirty="0"/>
              <a:t>.</a:t>
            </a:r>
          </a:p>
          <a:p>
            <a:r>
              <a:rPr lang="en-GB" sz="1400" dirty="0"/>
              <a:t>Certain routes (e.g., </a:t>
            </a:r>
            <a:r>
              <a:rPr lang="en-GB" sz="1400" b="1" dirty="0"/>
              <a:t>R004, R018</a:t>
            </a:r>
            <a:r>
              <a:rPr lang="en-GB" sz="1400" dirty="0"/>
              <a:t>) show </a:t>
            </a:r>
            <a:r>
              <a:rPr lang="en-GB" sz="1400" b="1" dirty="0"/>
              <a:t>consistently high transit times</a:t>
            </a:r>
            <a:r>
              <a:rPr lang="en-GB" sz="1400" dirty="0"/>
              <a:t>, indicating long-haul distance challenges or routing inefficiencies.</a:t>
            </a:r>
          </a:p>
          <a:p>
            <a:r>
              <a:rPr lang="en-GB" sz="1400" dirty="0"/>
              <a:t>Average delay per route varies widely, with some routes exceeding </a:t>
            </a:r>
            <a:r>
              <a:rPr lang="en-GB" sz="1400" b="1" dirty="0"/>
              <a:t>40 hours of delay</a:t>
            </a:r>
            <a:r>
              <a:rPr lang="en-GB" sz="1400" dirty="0"/>
              <a:t>, far above the network average of </a:t>
            </a:r>
            <a:r>
              <a:rPr lang="en-GB" sz="1400" b="1" dirty="0"/>
              <a:t>~21.4 hours</a:t>
            </a:r>
            <a:r>
              <a:rPr lang="en-GB" sz="1400" dirty="0"/>
              <a:t>.</a:t>
            </a:r>
          </a:p>
          <a:p>
            <a:r>
              <a:rPr lang="en-GB" sz="1400" dirty="0"/>
              <a:t>The </a:t>
            </a:r>
            <a:r>
              <a:rPr lang="en-GB" sz="1400" b="1" dirty="0"/>
              <a:t>distance-to-time efficiency ratio</a:t>
            </a:r>
            <a:r>
              <a:rPr lang="en-GB" sz="1400" dirty="0"/>
              <a:t> ranges from </a:t>
            </a:r>
            <a:r>
              <a:rPr lang="en-GB" sz="1400" b="1" dirty="0"/>
              <a:t>~38 km/hr to over 545 km/hr</a:t>
            </a:r>
            <a:r>
              <a:rPr lang="en-GB" sz="1400" dirty="0"/>
              <a:t>, highlighting large performance gaps between routes.</a:t>
            </a:r>
          </a:p>
          <a:p>
            <a:r>
              <a:rPr lang="en-GB" sz="1400" dirty="0"/>
              <a:t>Routes such as </a:t>
            </a:r>
            <a:r>
              <a:rPr lang="en-GB" sz="1400" b="1" dirty="0"/>
              <a:t>R003, R015, and R006</a:t>
            </a:r>
            <a:r>
              <a:rPr lang="en-GB" sz="1400" dirty="0"/>
              <a:t> are the </a:t>
            </a:r>
            <a:r>
              <a:rPr lang="en-GB" sz="1400" b="1" dirty="0"/>
              <a:t>least efficient</a:t>
            </a:r>
            <a:r>
              <a:rPr lang="en-GB" sz="1400" dirty="0"/>
              <a:t>, while multiple routes show </a:t>
            </a:r>
            <a:r>
              <a:rPr lang="en-GB" sz="1400" b="1" dirty="0"/>
              <a:t>delay percentages above 80%</a:t>
            </a:r>
            <a:r>
              <a:rPr lang="en-GB" sz="1400" dirty="0"/>
              <a:t>, indicating frequent SLA breaches.</a:t>
            </a:r>
            <a:br>
              <a:rPr lang="en-GB" sz="1400" dirty="0"/>
            </a:br>
            <a:endParaRPr lang="en-GB" sz="1400" dirty="0"/>
          </a:p>
          <a:p>
            <a:pPr marL="0" indent="0">
              <a:buNone/>
            </a:pPr>
            <a:r>
              <a:rPr lang="en-GB" sz="1400" b="1" dirty="0"/>
              <a:t>      </a:t>
            </a:r>
            <a:r>
              <a:rPr lang="en-GB" sz="1800" b="1" dirty="0"/>
              <a:t>Business Recommendations</a:t>
            </a:r>
          </a:p>
          <a:p>
            <a:r>
              <a:rPr lang="en-GB" sz="1400" b="1" dirty="0"/>
              <a:t>Prioritize optimization of low-efficiency routes</a:t>
            </a:r>
            <a:r>
              <a:rPr lang="en-GB" sz="1400" dirty="0"/>
              <a:t> by reviewing route design, traffic patterns, and transit schedules.</a:t>
            </a:r>
          </a:p>
          <a:p>
            <a:r>
              <a:rPr lang="en-GB" sz="1400" b="1" dirty="0"/>
              <a:t>Reassess expected transit times (SLAs)</a:t>
            </a:r>
            <a:r>
              <a:rPr lang="en-GB" sz="1400" dirty="0"/>
              <a:t> for routes with consistently high delay percentages to ensure realistic planning.</a:t>
            </a:r>
          </a:p>
          <a:p>
            <a:r>
              <a:rPr lang="en-GB" sz="1400" dirty="0"/>
              <a:t>Introduce </a:t>
            </a:r>
            <a:r>
              <a:rPr lang="en-GB" sz="1400" b="1" dirty="0"/>
              <a:t>route-specific strategies</a:t>
            </a:r>
            <a:r>
              <a:rPr lang="en-GB" sz="1400" dirty="0"/>
              <a:t> such as alternative paths, intermediate hubs, or capacity reallocation for high-risk routes.</a:t>
            </a:r>
          </a:p>
          <a:p>
            <a:r>
              <a:rPr lang="en-GB" sz="1400" dirty="0"/>
              <a:t>Continuously monitor route KPIs to proactively identify emerging bottlenecks and improve delivery reliability.</a:t>
            </a:r>
            <a:br>
              <a:rPr lang="en-GB" sz="1400" dirty="0"/>
            </a:br>
            <a:endParaRPr lang="en-GB" sz="1400" dirty="0"/>
          </a:p>
          <a:p>
            <a:pPr marL="0" indent="0">
              <a:buNone/>
            </a:pPr>
            <a:r>
              <a:rPr lang="en-GB" sz="1400" b="1" dirty="0"/>
              <a:t>      </a:t>
            </a:r>
            <a:r>
              <a:rPr lang="en-GB" sz="1800" b="1" dirty="0"/>
              <a:t>Outcome Expected</a:t>
            </a:r>
          </a:p>
          <a:p>
            <a:r>
              <a:rPr lang="en-GB" sz="1400" dirty="0"/>
              <a:t>Improved route efficiency and reduced transit time</a:t>
            </a:r>
          </a:p>
          <a:p>
            <a:r>
              <a:rPr lang="en-GB" sz="1400" dirty="0"/>
              <a:t>Better SLA adherence and fewer delivery delays</a:t>
            </a:r>
          </a:p>
          <a:p>
            <a:r>
              <a:rPr lang="en-GB" sz="1400" dirty="0"/>
              <a:t>Enhanced network reliability and customer satisfaction</a:t>
            </a:r>
          </a:p>
          <a:p>
            <a:pPr marL="0" indent="0">
              <a:buNone/>
            </a:pPr>
            <a:endParaRPr lang="en-IN" sz="1400" dirty="0"/>
          </a:p>
          <a:p>
            <a:pPr marL="0" indent="0">
              <a:buNone/>
            </a:pPr>
            <a:endParaRPr lang="en-IN" sz="1400" dirty="0"/>
          </a:p>
          <a:p>
            <a:pPr marL="0" indent="0">
              <a:buNone/>
            </a:pPr>
            <a:endParaRPr lang="en-IN" sz="1400" dirty="0"/>
          </a:p>
          <a:p>
            <a:pPr marL="0" indent="0">
              <a:buNone/>
            </a:pPr>
            <a:endParaRPr lang="en-IN" sz="1400" dirty="0"/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</a:pPr>
            <a:endParaRPr lang="en-GB" sz="1400" b="1" dirty="0"/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</a:pPr>
            <a:endParaRPr lang="en-IN" sz="1400" dirty="0"/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</a:pPr>
            <a:endParaRPr lang="en-IN" sz="1400" dirty="0"/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</a:pPr>
            <a:endParaRPr lang="en-IN" sz="1400" dirty="0"/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</a:pPr>
            <a:endParaRPr lang="en-IN" sz="1400" dirty="0"/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</a:pPr>
            <a:endParaRPr lang="en-IN" sz="1400" dirty="0"/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</a:pPr>
            <a:endParaRPr lang="en-IN" sz="1400" dirty="0"/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</a:pPr>
            <a:endParaRPr lang="en-IN" sz="1400" dirty="0"/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</a:pPr>
            <a:endParaRPr lang="en-IN" sz="1400" dirty="0"/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</a:pPr>
            <a:endParaRPr lang="en-IN" sz="1400" dirty="0"/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</a:pPr>
            <a:endParaRPr lang="en-IN" sz="1400" dirty="0"/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</a:pPr>
            <a:endParaRPr lang="en-IN" sz="1400" dirty="0"/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</a:pPr>
            <a:endParaRPr lang="en-IN" sz="1400" dirty="0"/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</a:pPr>
            <a:endParaRPr lang="en-IN" sz="1400" dirty="0"/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</a:pPr>
            <a:endParaRPr lang="en-IN" sz="1400" dirty="0"/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</a:pP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39266602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4497B0-706F-1957-DCC4-FBC4F49156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9E4CFE-372E-F819-984A-C0E623E32E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664234"/>
          </a:xfrm>
        </p:spPr>
        <p:txBody>
          <a:bodyPr>
            <a:normAutofit/>
          </a:bodyPr>
          <a:lstStyle/>
          <a:p>
            <a:pPr algn="ctr"/>
            <a:r>
              <a:rPr lang="en-GB" sz="2800" b="1" dirty="0"/>
              <a:t>Task 4: Warehouse Performance</a:t>
            </a:r>
            <a:endParaRPr lang="en-IN" sz="28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367FB6-53B2-8B8E-78A7-AD6F8E9AAB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524125"/>
            <a:ext cx="12192000" cy="4333874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</a:pPr>
            <a:endParaRPr lang="en-GB" sz="1400" b="1" dirty="0"/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GB" sz="1400" b="1" dirty="0"/>
              <a:t>Warehouse W004</a:t>
            </a:r>
            <a:r>
              <a:rPr lang="en-GB" sz="1400" dirty="0"/>
              <a:t> has the highest average delay at approximately </a:t>
            </a:r>
            <a:r>
              <a:rPr lang="en-GB" sz="1400" b="1" dirty="0"/>
              <a:t>25.9 hours</a:t>
            </a:r>
            <a:r>
              <a:rPr lang="en-GB" sz="1400" dirty="0"/>
              <a:t>, making it the most critical bottleneck.</a:t>
            </a:r>
            <a:br>
              <a:rPr lang="en-GB" sz="1400" dirty="0"/>
            </a:br>
            <a:r>
              <a:rPr lang="en-GB" sz="1400" b="1" dirty="0"/>
              <a:t>W003 (25.5 hours)</a:t>
            </a:r>
            <a:r>
              <a:rPr lang="en-GB" sz="1400" dirty="0"/>
              <a:t> and </a:t>
            </a:r>
            <a:r>
              <a:rPr lang="en-GB" sz="1400" b="1" dirty="0"/>
              <a:t>W008 (24.4 hours)</a:t>
            </a:r>
            <a:r>
              <a:rPr lang="en-GB" sz="1400" dirty="0"/>
              <a:t> also show consistently high delays compared to other warehouses.</a:t>
            </a:r>
            <a:br>
              <a:rPr lang="en-GB" sz="1400" dirty="0"/>
            </a:br>
            <a:r>
              <a:rPr lang="en-GB" sz="1400" dirty="0"/>
              <a:t>These warehouses should be prioritized for process optimization and capacity planning to reduce dispatch delays.</a:t>
            </a:r>
            <a:br>
              <a:rPr lang="en-GB" sz="1400" b="1" dirty="0"/>
            </a:br>
            <a:br>
              <a:rPr lang="en-GB" sz="1400" b="1" dirty="0"/>
            </a:br>
            <a:r>
              <a:rPr lang="en-GB" sz="1400" dirty="0"/>
              <a:t>Across all warehouses, a </a:t>
            </a:r>
            <a:r>
              <a:rPr lang="en-GB" sz="1400" b="1" dirty="0"/>
              <a:t>large proportion of shipments are delayed</a:t>
            </a:r>
            <a:r>
              <a:rPr lang="en-GB" sz="1400" dirty="0"/>
              <a:t>, with delayed shipments closely tracking total shipment volumes.</a:t>
            </a:r>
            <a:br>
              <a:rPr lang="en-GB" sz="1400" dirty="0"/>
            </a:br>
            <a:r>
              <a:rPr lang="en-GB" sz="1400" b="1" dirty="0"/>
              <a:t>Warehouse W008</a:t>
            </a:r>
            <a:r>
              <a:rPr lang="en-GB" sz="1400" dirty="0"/>
              <a:t> handles the highest shipment volume (</a:t>
            </a:r>
            <a:r>
              <a:rPr lang="en-GB" sz="1400" b="1" dirty="0"/>
              <a:t>~112 shipments</a:t>
            </a:r>
            <a:r>
              <a:rPr lang="en-GB" sz="1400" dirty="0"/>
              <a:t>) and also records a high number of delayed shipments (</a:t>
            </a:r>
            <a:r>
              <a:rPr lang="en-GB" sz="1400" b="1" dirty="0"/>
              <a:t>~100</a:t>
            </a:r>
            <a:r>
              <a:rPr lang="en-GB" sz="1400" dirty="0"/>
              <a:t>).</a:t>
            </a:r>
            <a:br>
              <a:rPr lang="en-GB" sz="1400" dirty="0"/>
            </a:br>
            <a:r>
              <a:rPr lang="en-GB" sz="1400" dirty="0"/>
              <a:t>Warehouses such as </a:t>
            </a:r>
            <a:r>
              <a:rPr lang="en-GB" sz="1400" b="1" dirty="0"/>
              <a:t>W001, W003, and W010</a:t>
            </a:r>
            <a:r>
              <a:rPr lang="en-GB" sz="1400" dirty="0"/>
              <a:t> show consistently high delay counts relative to total shipments.</a:t>
            </a:r>
            <a:br>
              <a:rPr lang="en-GB" sz="1400" dirty="0"/>
            </a:br>
            <a:r>
              <a:rPr lang="en-GB" sz="1400" dirty="0"/>
              <a:t>These patterns indicate the need for warehouse-level process improvements and capacity optimization to reduce dispatch delays.</a:t>
            </a:r>
            <a:endParaRPr lang="en-IN" sz="1400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ABF4726-23D8-F340-02E6-C30606EDD6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272" y="664234"/>
            <a:ext cx="2092878" cy="1374871"/>
          </a:xfrm>
          <a:prstGeom prst="rect">
            <a:avLst/>
          </a:prstGeom>
        </p:spPr>
      </p:pic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id="{48C0EDC8-528B-F1F1-DC91-41BB4E1AB3C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13420957"/>
              </p:ext>
            </p:extLst>
          </p:nvPr>
        </p:nvGraphicFramePr>
        <p:xfrm>
          <a:off x="0" y="2113471"/>
          <a:ext cx="3551423" cy="247578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12" name="Picture 11">
            <a:extLst>
              <a:ext uri="{FF2B5EF4-FFF2-40B4-BE49-F238E27FC236}">
                <a16:creationId xmlns:a16="http://schemas.microsoft.com/office/drawing/2014/main" id="{2A1975FF-6F3C-B6DD-6179-8DB4BD996F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1568" y="664234"/>
            <a:ext cx="2600688" cy="3029373"/>
          </a:xfrm>
          <a:prstGeom prst="rect">
            <a:avLst/>
          </a:prstGeom>
        </p:spPr>
      </p:pic>
      <p:graphicFrame>
        <p:nvGraphicFramePr>
          <p:cNvPr id="13" name="Chart 12">
            <a:extLst>
              <a:ext uri="{FF2B5EF4-FFF2-40B4-BE49-F238E27FC236}">
                <a16:creationId xmlns:a16="http://schemas.microsoft.com/office/drawing/2014/main" id="{535B8B21-F73A-CDDE-A745-25094C3FFF1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29466657"/>
              </p:ext>
            </p:extLst>
          </p:nvPr>
        </p:nvGraphicFramePr>
        <p:xfrm>
          <a:off x="5982256" y="664234"/>
          <a:ext cx="6209744" cy="372661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19947558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08F6FB-0056-DE33-9E39-19CF25BDB5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C6D45-115F-C68A-3846-7DE387D1B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664234"/>
          </a:xfrm>
        </p:spPr>
        <p:txBody>
          <a:bodyPr>
            <a:normAutofit/>
          </a:bodyPr>
          <a:lstStyle/>
          <a:p>
            <a:pPr algn="ctr"/>
            <a:r>
              <a:rPr lang="en-GB" sz="2800" b="1" dirty="0"/>
              <a:t>Task 4: Warehouse Performance</a:t>
            </a:r>
            <a:endParaRPr lang="en-IN" sz="28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6884C0-7F8D-0A74-D2CD-5162D6DA26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524125"/>
            <a:ext cx="12192000" cy="4333874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</a:pPr>
            <a:endParaRPr lang="en-GB" sz="1400" dirty="0"/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GB" sz="1400" dirty="0"/>
              <a:t>The </a:t>
            </a:r>
            <a:r>
              <a:rPr lang="en-GB" sz="1400" b="1" dirty="0"/>
              <a:t>global average delay is ~21.4 hours</a:t>
            </a:r>
            <a:r>
              <a:rPr lang="en-GB" sz="1400" dirty="0"/>
              <a:t>, serving as a benchmark for warehouse performance.</a:t>
            </a:r>
            <a:br>
              <a:rPr lang="en-GB" sz="1400" dirty="0"/>
            </a:br>
            <a:r>
              <a:rPr lang="en-GB" sz="1400" dirty="0"/>
              <a:t>Warehouses </a:t>
            </a:r>
            <a:r>
              <a:rPr lang="en-GB" sz="1400" b="1" dirty="0"/>
              <a:t>W003, W004, W005, W007, W008, and W010</a:t>
            </a:r>
            <a:r>
              <a:rPr lang="en-GB" sz="1400" dirty="0"/>
              <a:t> exceed the global average, indicating below-average dispatch efficiency.</a:t>
            </a:r>
            <a:br>
              <a:rPr lang="en-GB" sz="1400" dirty="0"/>
            </a:br>
            <a:r>
              <a:rPr lang="en-GB" sz="1400" b="1" dirty="0"/>
              <a:t>W004 (~25.9 hours)</a:t>
            </a:r>
            <a:r>
              <a:rPr lang="en-GB" sz="1400" dirty="0"/>
              <a:t> and </a:t>
            </a:r>
            <a:r>
              <a:rPr lang="en-GB" sz="1400" b="1" dirty="0"/>
              <a:t>W003 (~25.5 hours)</a:t>
            </a:r>
            <a:r>
              <a:rPr lang="en-GB" sz="1400" dirty="0"/>
              <a:t> show the highest deviation from the global benchmark.</a:t>
            </a:r>
            <a:br>
              <a:rPr lang="en-GB" sz="1400" dirty="0"/>
            </a:br>
            <a:br>
              <a:rPr lang="en-GB" sz="1400" dirty="0"/>
            </a:br>
            <a:r>
              <a:rPr lang="en-GB" sz="1400" dirty="0"/>
              <a:t>Warehouse </a:t>
            </a:r>
            <a:r>
              <a:rPr lang="en-GB" sz="1400" b="1" dirty="0"/>
              <a:t>W008</a:t>
            </a:r>
            <a:r>
              <a:rPr lang="en-GB" sz="1400" dirty="0"/>
              <a:t> ranks highest in on-time delivery performance with an on-time percentage of approximately </a:t>
            </a:r>
            <a:r>
              <a:rPr lang="en-GB" sz="1400" b="1" dirty="0"/>
              <a:t>10.7%</a:t>
            </a:r>
            <a:r>
              <a:rPr lang="en-GB" sz="1400" dirty="0"/>
              <a:t>.</a:t>
            </a:r>
            <a:br>
              <a:rPr lang="en-GB" sz="1400" dirty="0"/>
            </a:br>
            <a:r>
              <a:rPr lang="en-GB" sz="1400" dirty="0"/>
              <a:t>Warehouses </a:t>
            </a:r>
            <a:r>
              <a:rPr lang="en-GB" sz="1400" b="1" dirty="0"/>
              <a:t>W010 (8.7%)</a:t>
            </a:r>
            <a:r>
              <a:rPr lang="en-GB" sz="1400" dirty="0"/>
              <a:t> and </a:t>
            </a:r>
            <a:r>
              <a:rPr lang="en-GB" sz="1400" b="1" dirty="0"/>
              <a:t>W005 (7.8%)</a:t>
            </a:r>
            <a:r>
              <a:rPr lang="en-GB" sz="1400" dirty="0"/>
              <a:t> follow closely, indicating relatively better dispatch reliability.</a:t>
            </a:r>
            <a:br>
              <a:rPr lang="en-GB" sz="1400" dirty="0"/>
            </a:br>
            <a:r>
              <a:rPr lang="en-GB" sz="1400" b="1" dirty="0"/>
              <a:t>W007</a:t>
            </a:r>
            <a:r>
              <a:rPr lang="en-GB" sz="1400" dirty="0"/>
              <a:t> ranks lowest with an on-time delivery percentage of only </a:t>
            </a:r>
            <a:r>
              <a:rPr lang="en-GB" sz="1400" b="1" dirty="0"/>
              <a:t>~2.1%</a:t>
            </a:r>
            <a:r>
              <a:rPr lang="en-GB" sz="1400" dirty="0"/>
              <a:t>, highlighting severe performance issues.</a:t>
            </a:r>
            <a:br>
              <a:rPr lang="en-GB" sz="1400" dirty="0"/>
            </a:br>
            <a:r>
              <a:rPr lang="en-GB" sz="1400" dirty="0"/>
              <a:t>Overall, low on-time percentages across warehouses suggest the need for systemic improvements in warehouse operations and scheduling.</a:t>
            </a:r>
            <a:endParaRPr lang="en-GB" sz="1400" b="1" dirty="0"/>
          </a:p>
          <a:p>
            <a:pPr marL="0" indent="0">
              <a:buNone/>
            </a:pPr>
            <a:endParaRPr lang="en-IN" sz="1400" dirty="0"/>
          </a:p>
          <a:p>
            <a:pPr marL="0" indent="0">
              <a:buNone/>
            </a:pPr>
            <a:endParaRPr lang="en-IN" sz="1400" dirty="0"/>
          </a:p>
          <a:p>
            <a:pPr marL="0" indent="0">
              <a:buNone/>
            </a:pPr>
            <a:endParaRPr lang="en-IN" sz="1400" dirty="0"/>
          </a:p>
          <a:p>
            <a:pPr marL="0" indent="0">
              <a:buNone/>
            </a:pPr>
            <a:endParaRPr lang="en-IN" sz="1400" dirty="0"/>
          </a:p>
          <a:p>
            <a:pPr marL="0" indent="0">
              <a:buNone/>
            </a:pPr>
            <a:endParaRPr lang="en-IN" sz="1400" dirty="0"/>
          </a:p>
          <a:p>
            <a:pPr marL="0" indent="0">
              <a:buNone/>
            </a:pPr>
            <a:endParaRPr lang="en-IN" sz="1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213323D-8FC6-B8F6-8823-2BA7485B72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123" y="664234"/>
            <a:ext cx="3755840" cy="1859891"/>
          </a:xfrm>
          <a:prstGeom prst="rect">
            <a:avLst/>
          </a:prstGeom>
        </p:spPr>
      </p:pic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81E33F3F-84A8-0D01-C68E-34FFBE6D423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48042209"/>
              </p:ext>
            </p:extLst>
          </p:nvPr>
        </p:nvGraphicFramePr>
        <p:xfrm>
          <a:off x="0" y="2524125"/>
          <a:ext cx="5783046" cy="207375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14" name="Picture 13">
            <a:extLst>
              <a:ext uri="{FF2B5EF4-FFF2-40B4-BE49-F238E27FC236}">
                <a16:creationId xmlns:a16="http://schemas.microsoft.com/office/drawing/2014/main" id="{0502DCC2-7BD1-E24C-BAC1-454E242A42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43786" y="0"/>
            <a:ext cx="2248214" cy="4801270"/>
          </a:xfrm>
          <a:prstGeom prst="rect">
            <a:avLst/>
          </a:prstGeom>
        </p:spPr>
      </p:pic>
      <mc:AlternateContent xmlns:mc="http://schemas.openxmlformats.org/markup-compatibility/2006" xmlns:cx2="http://schemas.microsoft.com/office/drawing/2015/10/21/chartex">
        <mc:Choice Requires="cx2">
          <p:graphicFrame>
            <p:nvGraphicFramePr>
              <p:cNvPr id="20" name="Chart 19">
                <a:extLst>
                  <a:ext uri="{FF2B5EF4-FFF2-40B4-BE49-F238E27FC236}">
                    <a16:creationId xmlns:a16="http://schemas.microsoft.com/office/drawing/2014/main" id="{DFFBEB68-91EA-378A-2C4C-75D8E9717822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114577827"/>
                  </p:ext>
                </p:extLst>
              </p:nvPr>
            </p:nvGraphicFramePr>
            <p:xfrm>
              <a:off x="5948876" y="1097514"/>
              <a:ext cx="2248215" cy="3224320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5"/>
              </a:graphicData>
            </a:graphic>
          </p:graphicFrame>
        </mc:Choice>
        <mc:Fallback xmlns="">
          <p:pic>
            <p:nvPicPr>
              <p:cNvPr id="20" name="Chart 19">
                <a:extLst>
                  <a:ext uri="{FF2B5EF4-FFF2-40B4-BE49-F238E27FC236}">
                    <a16:creationId xmlns:a16="http://schemas.microsoft.com/office/drawing/2014/main" id="{DFFBEB68-91EA-378A-2C4C-75D8E9717822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948876" y="1097514"/>
                <a:ext cx="2248215" cy="322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cx2="http://schemas.microsoft.com/office/drawing/2015/10/21/chartex">
        <mc:Choice Requires="cx2">
          <p:graphicFrame>
            <p:nvGraphicFramePr>
              <p:cNvPr id="25" name="Chart 24">
                <a:extLst>
                  <a:ext uri="{FF2B5EF4-FFF2-40B4-BE49-F238E27FC236}">
                    <a16:creationId xmlns:a16="http://schemas.microsoft.com/office/drawing/2014/main" id="{66741A26-4AA8-5EAB-632C-7E43FC562467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2139575805"/>
                  </p:ext>
                </p:extLst>
              </p:nvPr>
            </p:nvGraphicFramePr>
            <p:xfrm>
              <a:off x="7987804" y="1097513"/>
              <a:ext cx="1790151" cy="3224319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7"/>
              </a:graphicData>
            </a:graphic>
          </p:graphicFrame>
        </mc:Choice>
        <mc:Fallback xmlns="">
          <p:pic>
            <p:nvPicPr>
              <p:cNvPr id="25" name="Chart 24">
                <a:extLst>
                  <a:ext uri="{FF2B5EF4-FFF2-40B4-BE49-F238E27FC236}">
                    <a16:creationId xmlns:a16="http://schemas.microsoft.com/office/drawing/2014/main" id="{66741A26-4AA8-5EAB-632C-7E43FC562467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987804" y="1097513"/>
                <a:ext cx="1790151" cy="3224319"/>
              </a:xfrm>
              <a:prstGeom prst="rect">
                <a:avLst/>
              </a:prstGeom>
            </p:spPr>
          </p:pic>
        </mc:Fallback>
      </mc:AlternateContent>
      <p:sp>
        <p:nvSpPr>
          <p:cNvPr id="26" name="Rectangle 25">
            <a:extLst>
              <a:ext uri="{FF2B5EF4-FFF2-40B4-BE49-F238E27FC236}">
                <a16:creationId xmlns:a16="http://schemas.microsoft.com/office/drawing/2014/main" id="{3F8AD116-10A5-F4E6-7C2E-4AF28261C599}"/>
              </a:ext>
            </a:extLst>
          </p:cNvPr>
          <p:cNvSpPr/>
          <p:nvPr/>
        </p:nvSpPr>
        <p:spPr>
          <a:xfrm>
            <a:off x="5948876" y="664234"/>
            <a:ext cx="3755840" cy="34505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1" dirty="0">
                <a:solidFill>
                  <a:schemeClr val="tx1"/>
                </a:solidFill>
              </a:rPr>
              <a:t> Warehouse Rank based on On-Time Delivery Percentage</a:t>
            </a:r>
            <a:r>
              <a:rPr lang="en-GB" sz="1000" dirty="0"/>
              <a:t>. </a:t>
            </a:r>
            <a:endParaRPr lang="en-IN" sz="1000" dirty="0"/>
          </a:p>
        </p:txBody>
      </p:sp>
    </p:spTree>
    <p:extLst>
      <p:ext uri="{BB962C8B-B14F-4D97-AF65-F5344CB8AC3E}">
        <p14:creationId xmlns:p14="http://schemas.microsoft.com/office/powerpoint/2010/main" val="23342458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3EB40B-D725-CE3E-C411-F89B221A62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AE0059-A220-F31D-5A5B-B78EFBD2DB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"/>
            <a:ext cx="10515600" cy="940279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pPr algn="ctr">
              <a:lnSpc>
                <a:spcPct val="150000"/>
              </a:lnSpc>
            </a:pPr>
            <a:r>
              <a:rPr lang="en-GB" sz="3100" b="1" dirty="0"/>
              <a:t>Task 4: Warehouse Performance</a:t>
            </a:r>
            <a:br>
              <a:rPr lang="en-GB" sz="2800" b="1" dirty="0"/>
            </a:br>
            <a:r>
              <a:rPr lang="en-IN" sz="2000" b="1" dirty="0"/>
              <a:t>(KEY INSIGHTS &amp; RECOMMENDATIONS)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DD3418-7198-3EC6-2741-B2B7F8479E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043795"/>
            <a:ext cx="12192000" cy="581420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1400" b="1" dirty="0"/>
              <a:t>     </a:t>
            </a:r>
            <a:br>
              <a:rPr lang="en-GB" sz="1400" b="1" dirty="0"/>
            </a:br>
            <a:r>
              <a:rPr lang="en-GB" sz="1800" b="1" dirty="0"/>
              <a:t>     Key Insights</a:t>
            </a:r>
          </a:p>
          <a:p>
            <a:r>
              <a:rPr lang="en-GB" sz="1400" dirty="0"/>
              <a:t>Warehouses </a:t>
            </a:r>
            <a:r>
              <a:rPr lang="en-GB" sz="1400" b="1" dirty="0"/>
              <a:t>W004 (~25.9 hrs)</a:t>
            </a:r>
            <a:r>
              <a:rPr lang="en-GB" sz="1400" dirty="0"/>
              <a:t>, </a:t>
            </a:r>
            <a:r>
              <a:rPr lang="en-GB" sz="1400" b="1" dirty="0"/>
              <a:t>W003 (~25.5 hrs)</a:t>
            </a:r>
            <a:r>
              <a:rPr lang="en-GB" sz="1400" dirty="0"/>
              <a:t>, and </a:t>
            </a:r>
            <a:r>
              <a:rPr lang="en-GB" sz="1400" b="1" dirty="0"/>
              <a:t>W008 (~24.4 hrs)</a:t>
            </a:r>
            <a:r>
              <a:rPr lang="en-GB" sz="1400" dirty="0"/>
              <a:t> record the </a:t>
            </a:r>
            <a:r>
              <a:rPr lang="en-GB" sz="1400" b="1" dirty="0"/>
              <a:t>highest average delay hours</a:t>
            </a:r>
            <a:r>
              <a:rPr lang="en-GB" sz="1400" dirty="0"/>
              <a:t>, indicating major dispatch inefficiencies.</a:t>
            </a:r>
          </a:p>
          <a:p>
            <a:r>
              <a:rPr lang="en-GB" sz="1400" dirty="0"/>
              <a:t>Across all warehouses, </a:t>
            </a:r>
            <a:r>
              <a:rPr lang="en-GB" sz="1400" b="1" dirty="0"/>
              <a:t>delayed shipments account for a large proportion of total shipments</a:t>
            </a:r>
            <a:r>
              <a:rPr lang="en-GB" sz="1400" dirty="0"/>
              <a:t>, suggesting systemic warehouse-level issues.</a:t>
            </a:r>
          </a:p>
          <a:p>
            <a:r>
              <a:rPr lang="en-GB" sz="1400" dirty="0"/>
              <a:t>The </a:t>
            </a:r>
            <a:r>
              <a:rPr lang="en-GB" sz="1400" b="1" dirty="0"/>
              <a:t>global average delay is ~21.4 hours</a:t>
            </a:r>
            <a:r>
              <a:rPr lang="en-GB" sz="1400" dirty="0"/>
              <a:t>, with multiple warehouses (</a:t>
            </a:r>
            <a:r>
              <a:rPr lang="en-GB" sz="1400" b="1" dirty="0"/>
              <a:t>W003, W004, W005, W007, W008, W010</a:t>
            </a:r>
            <a:r>
              <a:rPr lang="en-GB" sz="1400" dirty="0"/>
              <a:t>) exceeding this benchmark.</a:t>
            </a:r>
          </a:p>
          <a:p>
            <a:r>
              <a:rPr lang="en-GB" sz="1400" dirty="0"/>
              <a:t>On-time delivery performance is generally low, with </a:t>
            </a:r>
            <a:r>
              <a:rPr lang="en-GB" sz="1400" b="1" dirty="0"/>
              <a:t>W008 leading at ~10.7%</a:t>
            </a:r>
            <a:r>
              <a:rPr lang="en-GB" sz="1400" dirty="0"/>
              <a:t> and </a:t>
            </a:r>
            <a:r>
              <a:rPr lang="en-GB" sz="1400" b="1" dirty="0"/>
              <a:t>W007 lagging at ~2.1%</a:t>
            </a:r>
            <a:r>
              <a:rPr lang="en-GB" sz="1400" dirty="0"/>
              <a:t>, highlighting wide performance gaps.</a:t>
            </a:r>
          </a:p>
          <a:p>
            <a:endParaRPr lang="en-GB" sz="1400" b="1" dirty="0"/>
          </a:p>
          <a:p>
            <a:pPr marL="0" indent="0">
              <a:buNone/>
            </a:pPr>
            <a:r>
              <a:rPr lang="en-GB" sz="1400" b="1" dirty="0"/>
              <a:t>      </a:t>
            </a:r>
            <a:r>
              <a:rPr lang="en-GB" sz="1800" b="1" dirty="0"/>
              <a:t>Business Recommendations</a:t>
            </a:r>
          </a:p>
          <a:p>
            <a:r>
              <a:rPr lang="en-GB" sz="1400" b="1" dirty="0"/>
              <a:t>Prioritize operational reviews</a:t>
            </a:r>
            <a:r>
              <a:rPr lang="en-GB" sz="1400" dirty="0"/>
              <a:t> for high-delay warehouses (especially </a:t>
            </a:r>
            <a:r>
              <a:rPr lang="en-GB" sz="1400" b="1" dirty="0"/>
              <a:t>W004 and W003</a:t>
            </a:r>
            <a:r>
              <a:rPr lang="en-GB" sz="1400" dirty="0"/>
              <a:t>) to identify process bottlenecks.</a:t>
            </a:r>
          </a:p>
          <a:p>
            <a:r>
              <a:rPr lang="en-GB" sz="1400" dirty="0"/>
              <a:t>Improve </a:t>
            </a:r>
            <a:r>
              <a:rPr lang="en-GB" sz="1400" b="1" dirty="0"/>
              <a:t>warehouse scheduling, staffing, and dispatch workflows</a:t>
            </a:r>
            <a:r>
              <a:rPr lang="en-GB" sz="1400" dirty="0"/>
              <a:t> to reduce delays and increase on-time performance.</a:t>
            </a:r>
          </a:p>
          <a:p>
            <a:r>
              <a:rPr lang="en-GB" sz="1400" dirty="0"/>
              <a:t>Rebalance shipment volumes to prevent </a:t>
            </a:r>
            <a:r>
              <a:rPr lang="en-GB" sz="1400" b="1" dirty="0"/>
              <a:t>overloading high-delay warehouses</a:t>
            </a:r>
            <a:r>
              <a:rPr lang="en-GB" sz="1400" dirty="0"/>
              <a:t> and better utilize lower-delay facilities.</a:t>
            </a:r>
          </a:p>
          <a:p>
            <a:r>
              <a:rPr lang="en-GB" sz="1400" dirty="0"/>
              <a:t>Implement continuous monitoring of warehouse KPIs to drive accountability and performance improvement.</a:t>
            </a:r>
          </a:p>
          <a:p>
            <a:pPr marL="0" indent="0">
              <a:buNone/>
            </a:pPr>
            <a:endParaRPr lang="en-GB" sz="1400" dirty="0"/>
          </a:p>
          <a:p>
            <a:pPr marL="0" indent="0">
              <a:buNone/>
            </a:pPr>
            <a:r>
              <a:rPr lang="en-GB" sz="1400" b="1" dirty="0"/>
              <a:t>      </a:t>
            </a:r>
            <a:r>
              <a:rPr lang="en-GB" sz="1800" b="1" dirty="0"/>
              <a:t>Outcome Expected</a:t>
            </a:r>
          </a:p>
          <a:p>
            <a:r>
              <a:rPr lang="en-GB" sz="1400" dirty="0"/>
              <a:t>Reduced warehouse dispatch delays</a:t>
            </a:r>
          </a:p>
          <a:p>
            <a:r>
              <a:rPr lang="en-GB" sz="1400" dirty="0"/>
              <a:t>Improved on-time delivery performance</a:t>
            </a:r>
          </a:p>
          <a:p>
            <a:r>
              <a:rPr lang="en-GB" sz="1400" dirty="0"/>
              <a:t>Better utilization of warehouse capacity</a:t>
            </a:r>
          </a:p>
          <a:p>
            <a:r>
              <a:rPr lang="en-GB" sz="1400" dirty="0"/>
              <a:t>Enhanced overall logistics reliability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</a:pPr>
            <a:endParaRPr lang="en-GB" sz="1400" dirty="0"/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</a:pPr>
            <a:endParaRPr lang="en-IN" sz="1400" dirty="0"/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</a:pPr>
            <a:endParaRPr lang="en-IN" sz="1400" dirty="0"/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</a:pPr>
            <a:endParaRPr lang="en-IN" sz="1400" dirty="0"/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</a:pPr>
            <a:endParaRPr lang="en-IN" sz="1400" dirty="0"/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</a:pPr>
            <a:endParaRPr lang="en-IN" sz="1400" dirty="0"/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</a:pPr>
            <a:endParaRPr lang="en-IN" sz="1400" dirty="0"/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</a:pPr>
            <a:endParaRPr lang="en-IN" sz="1400" dirty="0"/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</a:pPr>
            <a:endParaRPr lang="en-IN" sz="1400" dirty="0"/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</a:pPr>
            <a:endParaRPr lang="en-IN" sz="1400" dirty="0"/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</a:pPr>
            <a:endParaRPr lang="en-IN" sz="1400" dirty="0"/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</a:pPr>
            <a:endParaRPr lang="en-IN" sz="1400" dirty="0"/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</a:pPr>
            <a:endParaRPr lang="en-IN" sz="1400" dirty="0"/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</a:pPr>
            <a:endParaRPr lang="en-IN" sz="1400" dirty="0"/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</a:pPr>
            <a:endParaRPr lang="en-IN" sz="1400" dirty="0"/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</a:pPr>
            <a:endParaRPr lang="en-IN" sz="1400" dirty="0"/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</a:pPr>
            <a:endParaRPr lang="en-IN" sz="1400" dirty="0"/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</a:pP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24306704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1715C0-01CC-26E1-F1C9-43A9DDC4E0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FE8044-31EE-83C5-9821-FB1D0FDCE2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664234"/>
          </a:xfrm>
        </p:spPr>
        <p:txBody>
          <a:bodyPr>
            <a:normAutofit/>
          </a:bodyPr>
          <a:lstStyle/>
          <a:p>
            <a:pPr algn="ctr"/>
            <a:r>
              <a:rPr lang="en-GB" sz="2800" b="1" dirty="0"/>
              <a:t>Task 5: Delivery Agent Performance</a:t>
            </a:r>
            <a:endParaRPr lang="en-IN" sz="28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589754-DC01-2B0C-013B-C178C07B3E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524125"/>
            <a:ext cx="12192000" cy="4333874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lnSpc>
                <a:spcPct val="150000"/>
              </a:lnSpc>
              <a:buNone/>
            </a:pPr>
            <a:r>
              <a:rPr lang="en-GB" sz="1400" dirty="0"/>
              <a:t>Delivery agents were ranked by on-time delivery percentage within each route, resulting in a detailed performance table of </a:t>
            </a:r>
            <a:r>
              <a:rPr lang="en-GB" sz="1400" b="1" dirty="0"/>
              <a:t>~ 645 agent–route records</a:t>
            </a:r>
            <a:r>
              <a:rPr lang="en-GB" sz="1400" dirty="0"/>
              <a:t>.</a:t>
            </a:r>
            <a:br>
              <a:rPr lang="en-GB" sz="1400" dirty="0"/>
            </a:br>
            <a:r>
              <a:rPr lang="en-GB" sz="1400" dirty="0"/>
              <a:t>On-time delivery performance shows </a:t>
            </a:r>
            <a:r>
              <a:rPr lang="en-GB" sz="1400" b="1" dirty="0"/>
              <a:t>significant variation among agents operating on the same route</a:t>
            </a:r>
            <a:r>
              <a:rPr lang="en-GB" sz="1400" dirty="0"/>
              <a:t>, indicating that delays are not purely route-driven.</a:t>
            </a:r>
            <a:br>
              <a:rPr lang="en-GB" sz="1400" dirty="0"/>
            </a:br>
            <a:r>
              <a:rPr lang="en-GB" sz="1400" dirty="0"/>
              <a:t>On-time delivery percentages range from </a:t>
            </a:r>
            <a:r>
              <a:rPr lang="en-GB" sz="1400" b="1" dirty="0"/>
              <a:t>very low single-digit values to higher double-digit values</a:t>
            </a:r>
            <a:r>
              <a:rPr lang="en-GB" sz="1400" dirty="0"/>
              <a:t>, reflecting wide performance disparities.</a:t>
            </a:r>
            <a:br>
              <a:rPr lang="en-GB" sz="1400" dirty="0"/>
            </a:br>
            <a:r>
              <a:rPr lang="en-GB" sz="1400" dirty="0"/>
              <a:t>A small group of agents consistently ranks at the top within their routes, demonstrating </a:t>
            </a:r>
            <a:r>
              <a:rPr lang="en-GB" sz="1400" b="1" dirty="0"/>
              <a:t>reliable and efficient delivery execution</a:t>
            </a:r>
            <a:r>
              <a:rPr lang="en-GB" sz="1400" dirty="0"/>
              <a:t>.</a:t>
            </a:r>
            <a:br>
              <a:rPr lang="en-GB" sz="1400" dirty="0"/>
            </a:br>
            <a:r>
              <a:rPr lang="en-GB" sz="1400" dirty="0"/>
              <a:t>Conversely, lower-ranked agents contribute to a </a:t>
            </a:r>
            <a:r>
              <a:rPr lang="en-GB" sz="1400" b="1" dirty="0"/>
              <a:t>disproportionately high share of delayed shipments</a:t>
            </a:r>
            <a:r>
              <a:rPr lang="en-GB" sz="1400" dirty="0"/>
              <a:t>.</a:t>
            </a:r>
            <a:br>
              <a:rPr lang="en-GB" sz="1400" dirty="0"/>
            </a:br>
            <a:r>
              <a:rPr lang="en-GB" sz="1400" dirty="0"/>
              <a:t>This ranking enables </a:t>
            </a:r>
            <a:r>
              <a:rPr lang="en-GB" sz="1400" b="1" dirty="0"/>
              <a:t>targeted performance management</a:t>
            </a:r>
            <a:r>
              <a:rPr lang="en-GB" sz="1400" dirty="0"/>
              <a:t>, including focused training, route reassignment, and incentive-based improvements.</a:t>
            </a:r>
            <a:br>
              <a:rPr lang="en-GB" sz="1400" dirty="0"/>
            </a:br>
            <a:r>
              <a:rPr lang="en-GB" sz="1400" dirty="0"/>
              <a:t>Overall, agent-level insights complement route and warehouse analysis to improve end-to-end delivery reliability.</a:t>
            </a:r>
            <a:endParaRPr lang="en-IN" sz="1400" dirty="0"/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400"/>
              </a:spcAft>
              <a:buNone/>
            </a:pPr>
            <a:endParaRPr lang="en-GB" sz="1200" b="1" dirty="0"/>
          </a:p>
          <a:p>
            <a:pPr marL="0" indent="0">
              <a:lnSpc>
                <a:spcPct val="150000"/>
              </a:lnSpc>
              <a:buNone/>
            </a:pPr>
            <a:endParaRPr lang="en-IN" sz="1400" dirty="0"/>
          </a:p>
          <a:p>
            <a:pPr marL="0" indent="0">
              <a:buNone/>
            </a:pPr>
            <a:endParaRPr lang="en-IN" sz="1400" dirty="0"/>
          </a:p>
          <a:p>
            <a:pPr marL="0" indent="0">
              <a:buNone/>
            </a:pPr>
            <a:endParaRPr lang="en-IN" sz="1400" dirty="0"/>
          </a:p>
          <a:p>
            <a:pPr marL="0" indent="0">
              <a:buNone/>
            </a:pPr>
            <a:endParaRPr lang="en-IN" sz="1400" dirty="0"/>
          </a:p>
          <a:p>
            <a:pPr marL="0" indent="0">
              <a:buNone/>
            </a:pPr>
            <a:endParaRPr lang="en-IN" sz="1400" dirty="0"/>
          </a:p>
          <a:p>
            <a:pPr marL="0" indent="0">
              <a:buNone/>
            </a:pPr>
            <a:endParaRPr lang="en-IN" sz="1400" dirty="0"/>
          </a:p>
          <a:p>
            <a:pPr marL="0" indent="0">
              <a:buNone/>
            </a:pPr>
            <a:endParaRPr lang="en-IN" sz="1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217DC7C-1BD5-6DFE-82A5-1578CDBB3C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028" y="664234"/>
            <a:ext cx="5401429" cy="307700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D0331A8-85B7-0D3D-196E-2CDA24FEC0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9974" y="664234"/>
            <a:ext cx="4887007" cy="3077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90924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B9745D-62B0-7F1B-9243-B1056AA9A2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BAB77C-E3A0-F478-2AD2-EBA288BB03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664234"/>
          </a:xfrm>
        </p:spPr>
        <p:txBody>
          <a:bodyPr>
            <a:normAutofit/>
          </a:bodyPr>
          <a:lstStyle/>
          <a:p>
            <a:pPr algn="ctr"/>
            <a:r>
              <a:rPr lang="en-GB" sz="2800" b="1" dirty="0"/>
              <a:t>Task 5: Delivery Agent Performance</a:t>
            </a:r>
            <a:endParaRPr lang="en-IN" sz="28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2D9F44-5943-BB21-B17A-4373CB7FC3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524125"/>
            <a:ext cx="12192000" cy="433387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lnSpc>
                <a:spcPct val="150000"/>
              </a:lnSpc>
              <a:buNone/>
            </a:pPr>
            <a:br>
              <a:rPr lang="en-GB" sz="1200" b="1" dirty="0"/>
            </a:br>
            <a:endParaRPr lang="en-GB" sz="1200" b="1" dirty="0"/>
          </a:p>
          <a:p>
            <a:pPr marL="0" indent="0">
              <a:lnSpc>
                <a:spcPct val="150000"/>
              </a:lnSpc>
              <a:buNone/>
            </a:pPr>
            <a:r>
              <a:rPr lang="en-GB" sz="1400" dirty="0"/>
              <a:t>All delivery agents have an </a:t>
            </a:r>
            <a:r>
              <a:rPr lang="en-GB" sz="1400" b="1" dirty="0"/>
              <a:t>on-time delivery percentage below 85%</a:t>
            </a:r>
            <a:r>
              <a:rPr lang="en-GB" sz="1400" dirty="0"/>
              <a:t>, indicating widespread performance challenges.</a:t>
            </a:r>
            <a:br>
              <a:rPr lang="en-GB" sz="1400" dirty="0"/>
            </a:br>
            <a:r>
              <a:rPr lang="en-GB" sz="1400" dirty="0"/>
              <a:t>On-time percentages range from </a:t>
            </a:r>
            <a:r>
              <a:rPr lang="en-GB" sz="1400" b="1" dirty="0"/>
              <a:t>~23.8% at the highest to 0% for several agents</a:t>
            </a:r>
            <a:r>
              <a:rPr lang="en-GB" sz="1400" dirty="0"/>
              <a:t>, showing extreme variation in agent performance.</a:t>
            </a:r>
            <a:br>
              <a:rPr lang="en-GB" sz="1400" dirty="0"/>
            </a:br>
            <a:r>
              <a:rPr lang="en-GB" sz="1400" dirty="0"/>
              <a:t>Multiple agents record </a:t>
            </a:r>
            <a:r>
              <a:rPr lang="en-GB" sz="1400" b="1" dirty="0"/>
              <a:t>single-digit or zero on-time percentages</a:t>
            </a:r>
            <a:r>
              <a:rPr lang="en-GB" sz="1400" dirty="0"/>
              <a:t>, highlighting critical reliability issues.</a:t>
            </a:r>
            <a:br>
              <a:rPr lang="en-GB" sz="1400" dirty="0"/>
            </a:br>
            <a:r>
              <a:rPr lang="en-GB" sz="1400" dirty="0"/>
              <a:t>Only a small subset of agents achieve </a:t>
            </a:r>
            <a:r>
              <a:rPr lang="en-GB" sz="1400" b="1" dirty="0"/>
              <a:t>on-time performance above 15–20%</a:t>
            </a:r>
            <a:r>
              <a:rPr lang="en-GB" sz="1400" dirty="0"/>
              <a:t>, suggesting limited consistency across the workforce.</a:t>
            </a:r>
            <a:br>
              <a:rPr lang="en-GB" sz="1400" dirty="0"/>
            </a:br>
            <a:r>
              <a:rPr lang="en-GB" sz="1400" dirty="0"/>
              <a:t>These findings emphasize the need for </a:t>
            </a:r>
            <a:r>
              <a:rPr lang="en-GB" sz="1400" b="1" dirty="0"/>
              <a:t>targeted training, performance monitoring, and route reassignment</a:t>
            </a:r>
            <a:r>
              <a:rPr lang="en-GB" sz="1400" dirty="0"/>
              <a:t> for low-performing agents.</a:t>
            </a:r>
            <a:endParaRPr lang="en-IN" sz="1400" dirty="0"/>
          </a:p>
          <a:p>
            <a:pPr marL="0" indent="0">
              <a:lnSpc>
                <a:spcPct val="150000"/>
              </a:lnSpc>
              <a:buNone/>
            </a:pPr>
            <a:endParaRPr lang="en-IN" sz="1400" dirty="0"/>
          </a:p>
          <a:p>
            <a:pPr marL="0" indent="0">
              <a:buNone/>
            </a:pPr>
            <a:endParaRPr lang="en-IN" sz="1400" dirty="0"/>
          </a:p>
          <a:p>
            <a:pPr marL="0" indent="0">
              <a:buNone/>
            </a:pPr>
            <a:endParaRPr lang="en-IN" sz="1400" dirty="0"/>
          </a:p>
          <a:p>
            <a:pPr marL="0" indent="0">
              <a:buNone/>
            </a:pPr>
            <a:endParaRPr lang="en-IN" sz="1400" dirty="0"/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A4194EC0-9458-04B4-1DF8-CD25347093B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70697767"/>
              </p:ext>
            </p:extLst>
          </p:nvPr>
        </p:nvGraphicFramePr>
        <p:xfrm>
          <a:off x="-60387" y="931653"/>
          <a:ext cx="12252387" cy="40026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52266EB2-253E-39A8-C89B-26E6C1F7B2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4734" y="0"/>
            <a:ext cx="2267266" cy="4153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02919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C01AE0-5F8C-64D0-6CC0-0B70893426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3C1459-E19D-D51A-E7F4-10951FF4C2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664234"/>
          </a:xfrm>
        </p:spPr>
        <p:txBody>
          <a:bodyPr>
            <a:normAutofit/>
          </a:bodyPr>
          <a:lstStyle/>
          <a:p>
            <a:pPr algn="ctr"/>
            <a:r>
              <a:rPr lang="en-GB" sz="2800" b="1" dirty="0"/>
              <a:t>Task 5: Delivery Agent Performance</a:t>
            </a:r>
            <a:endParaRPr lang="en-IN" sz="28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0A1F45-ACB4-F87D-E784-26A82866AB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524125"/>
            <a:ext cx="12192000" cy="4333874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sz="1400" dirty="0"/>
          </a:p>
          <a:p>
            <a:pPr marL="0" indent="0">
              <a:lnSpc>
                <a:spcPct val="150000"/>
              </a:lnSpc>
              <a:buNone/>
            </a:pPr>
            <a:r>
              <a:rPr lang="en-GB" sz="1400" dirty="0"/>
              <a:t>The </a:t>
            </a:r>
            <a:r>
              <a:rPr lang="en-GB" sz="1400" b="1" dirty="0"/>
              <a:t>Top 5 agents</a:t>
            </a:r>
            <a:r>
              <a:rPr lang="en-GB" sz="1400" dirty="0"/>
              <a:t> have an average rating of approximately </a:t>
            </a:r>
            <a:r>
              <a:rPr lang="en-GB" sz="1400" b="1" dirty="0"/>
              <a:t>4.42</a:t>
            </a:r>
            <a:r>
              <a:rPr lang="en-GB" sz="1400" dirty="0"/>
              <a:t> with an average experience of </a:t>
            </a:r>
            <a:r>
              <a:rPr lang="en-GB" sz="1400" b="1" dirty="0"/>
              <a:t>~2.34 years</a:t>
            </a:r>
            <a:r>
              <a:rPr lang="en-GB" sz="1400" dirty="0"/>
              <a:t>.</a:t>
            </a:r>
            <a:br>
              <a:rPr lang="en-GB" sz="1400" dirty="0"/>
            </a:br>
            <a:r>
              <a:rPr lang="en-GB" sz="1400" dirty="0"/>
              <a:t>The </a:t>
            </a:r>
            <a:r>
              <a:rPr lang="en-GB" sz="1400" b="1" dirty="0"/>
              <a:t>Bottom 5 agents</a:t>
            </a:r>
            <a:r>
              <a:rPr lang="en-GB" sz="1400" dirty="0"/>
              <a:t> show a slightly higher average rating of </a:t>
            </a:r>
            <a:r>
              <a:rPr lang="en-GB" sz="1400" b="1" dirty="0"/>
              <a:t>~4.52</a:t>
            </a:r>
            <a:r>
              <a:rPr lang="en-GB" sz="1400" dirty="0"/>
              <a:t>, but similar experience levels at </a:t>
            </a:r>
            <a:r>
              <a:rPr lang="en-GB" sz="1400" b="1" dirty="0"/>
              <a:t>~2.40 years</a:t>
            </a:r>
            <a:r>
              <a:rPr lang="en-GB" sz="1400" dirty="0"/>
              <a:t>.</a:t>
            </a:r>
            <a:br>
              <a:rPr lang="en-GB" sz="1400" dirty="0"/>
            </a:br>
            <a:r>
              <a:rPr lang="en-GB" sz="1400" dirty="0"/>
              <a:t>This indicates that </a:t>
            </a:r>
            <a:r>
              <a:rPr lang="en-GB" sz="1400" b="1" dirty="0"/>
              <a:t>higher ratings or experience alone do not guarantee better on-time performance</a:t>
            </a:r>
            <a:r>
              <a:rPr lang="en-GB" sz="1400" dirty="0"/>
              <a:t>.</a:t>
            </a:r>
            <a:br>
              <a:rPr lang="en-GB" sz="1400" dirty="0"/>
            </a:br>
            <a:r>
              <a:rPr lang="en-GB" sz="1400" dirty="0"/>
              <a:t>Delivery efficiency appears to be influenced more by </a:t>
            </a:r>
            <a:r>
              <a:rPr lang="en-GB" sz="1400" b="1" dirty="0"/>
              <a:t>operational factors such as route conditions and workload</a:t>
            </a:r>
            <a:r>
              <a:rPr lang="en-GB" sz="1400" dirty="0"/>
              <a:t> rather than agent tenure or ratings alone.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1400" dirty="0"/>
              <a:t>Analysis shows most delivery agents have on-time delivery percentages </a:t>
            </a:r>
            <a:r>
              <a:rPr lang="en-GB" sz="1400" b="1" dirty="0"/>
              <a:t>below 85%</a:t>
            </a:r>
            <a:r>
              <a:rPr lang="en-GB" sz="1400" dirty="0"/>
              <a:t>, with several agents performing in the </a:t>
            </a:r>
            <a:r>
              <a:rPr lang="en-GB" sz="1400" b="1" dirty="0"/>
              <a:t>0–10% range</a:t>
            </a:r>
            <a:r>
              <a:rPr lang="en-GB" sz="1400" dirty="0"/>
              <a:t>.</a:t>
            </a:r>
            <a:br>
              <a:rPr lang="en-GB" sz="1400" dirty="0"/>
            </a:br>
            <a:r>
              <a:rPr lang="en-GB" sz="1400" dirty="0"/>
              <a:t>Targeted training is recommended for low-performing agents, while high-risk routes should be balanced by assigning them to agents with </a:t>
            </a:r>
            <a:r>
              <a:rPr lang="en-GB" sz="1400" b="1" dirty="0"/>
              <a:t>20%+ on-time performance</a:t>
            </a:r>
            <a:r>
              <a:rPr lang="en-GB" sz="1400" dirty="0"/>
              <a:t>.</a:t>
            </a:r>
            <a:br>
              <a:rPr lang="en-GB" sz="1400" dirty="0"/>
            </a:br>
            <a:r>
              <a:rPr lang="en-GB" sz="1400" dirty="0"/>
              <a:t>These actions are expected to improve agent efficiency and overall delivery reliability.</a:t>
            </a:r>
            <a:endParaRPr lang="en-IN" sz="1400" dirty="0"/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400"/>
              </a:spcAft>
              <a:buNone/>
            </a:pPr>
            <a:endParaRPr lang="en-GB" sz="1400" b="1" dirty="0"/>
          </a:p>
          <a:p>
            <a:pPr marL="0" indent="0">
              <a:buNone/>
            </a:pPr>
            <a:endParaRPr lang="en-IN" sz="1400" dirty="0"/>
          </a:p>
          <a:p>
            <a:pPr marL="0" indent="0">
              <a:buNone/>
            </a:pPr>
            <a:endParaRPr lang="en-IN" sz="1400" dirty="0"/>
          </a:p>
          <a:p>
            <a:pPr marL="0" indent="0">
              <a:buNone/>
            </a:pPr>
            <a:endParaRPr lang="en-IN" sz="1400" dirty="0"/>
          </a:p>
          <a:p>
            <a:pPr marL="0" indent="0">
              <a:buNone/>
            </a:pPr>
            <a:endParaRPr lang="en-IN" sz="1400" dirty="0"/>
          </a:p>
          <a:p>
            <a:pPr marL="0" indent="0">
              <a:buNone/>
            </a:pPr>
            <a:endParaRPr lang="en-IN" sz="1400" dirty="0"/>
          </a:p>
          <a:p>
            <a:pPr marL="0" indent="0">
              <a:buNone/>
            </a:pPr>
            <a:endParaRPr lang="en-IN" sz="1400" dirty="0"/>
          </a:p>
          <a:p>
            <a:pPr marL="0" indent="0">
              <a:buNone/>
            </a:pPr>
            <a:endParaRPr lang="en-IN" sz="14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40F9693-9F51-8A0E-AFC7-C155ACAC55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107" y="954570"/>
            <a:ext cx="2762636" cy="252447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C4966A5-4E94-5AFC-78D3-C41DE11B87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2850" y="954570"/>
            <a:ext cx="2857899" cy="2572109"/>
          </a:xfrm>
          <a:prstGeom prst="rect">
            <a:avLst/>
          </a:prstGeom>
        </p:spPr>
      </p:pic>
      <p:graphicFrame>
        <p:nvGraphicFramePr>
          <p:cNvPr id="14" name="Chart 13">
            <a:extLst>
              <a:ext uri="{FF2B5EF4-FFF2-40B4-BE49-F238E27FC236}">
                <a16:creationId xmlns:a16="http://schemas.microsoft.com/office/drawing/2014/main" id="{750FE459-5D95-C72E-9A51-A31549513D5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34272150"/>
              </p:ext>
            </p:extLst>
          </p:nvPr>
        </p:nvGraphicFramePr>
        <p:xfrm>
          <a:off x="5875856" y="845209"/>
          <a:ext cx="6028597" cy="268147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6399847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9C2992-EC21-074C-B4C9-B70C12413C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3F561C-06A2-187B-FF87-C48BB72EE8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"/>
            <a:ext cx="10515600" cy="940279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pPr algn="ctr">
              <a:lnSpc>
                <a:spcPct val="150000"/>
              </a:lnSpc>
            </a:pPr>
            <a:r>
              <a:rPr lang="en-GB" sz="3100" b="1" dirty="0"/>
              <a:t>Task </a:t>
            </a:r>
            <a:r>
              <a:rPr lang="en-IN" sz="3200" b="1" dirty="0"/>
              <a:t>5: Delivery Agent Performance</a:t>
            </a:r>
            <a:br>
              <a:rPr lang="en-GB" sz="2800" b="1" dirty="0"/>
            </a:br>
            <a:r>
              <a:rPr lang="en-IN" sz="2000" b="1" dirty="0"/>
              <a:t>(KEY INSIGHTS &amp; RECOMMENDATIONS)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E810C1-F47D-6E42-7661-6B6B8CD63F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043795"/>
            <a:ext cx="12192000" cy="581420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sz="1400" b="1" dirty="0"/>
              <a:t>     </a:t>
            </a:r>
            <a:br>
              <a:rPr lang="en-GB" sz="1400" b="1" dirty="0"/>
            </a:br>
            <a:r>
              <a:rPr lang="en-GB" sz="1800" b="1" dirty="0"/>
              <a:t>     Key Insights</a:t>
            </a:r>
          </a:p>
          <a:p>
            <a:r>
              <a:rPr lang="en-GB" sz="1400" dirty="0"/>
              <a:t>Delivery agent performance shows </a:t>
            </a:r>
            <a:r>
              <a:rPr lang="en-GB" sz="1400" b="1" dirty="0"/>
              <a:t>high variability</a:t>
            </a:r>
            <a:r>
              <a:rPr lang="en-GB" sz="1400" dirty="0"/>
              <a:t>, with on-time delivery percentages ranging from </a:t>
            </a:r>
            <a:r>
              <a:rPr lang="en-GB" sz="1400" b="1" dirty="0"/>
              <a:t>~0% to ~24%</a:t>
            </a:r>
            <a:r>
              <a:rPr lang="en-GB" sz="1400" dirty="0"/>
              <a:t> across agents.</a:t>
            </a:r>
          </a:p>
          <a:p>
            <a:r>
              <a:rPr lang="en-GB" sz="1400" dirty="0"/>
              <a:t>A large majority of agents perform </a:t>
            </a:r>
            <a:r>
              <a:rPr lang="en-GB" sz="1400" b="1" dirty="0"/>
              <a:t>below the 85% on-time benchmark</a:t>
            </a:r>
            <a:r>
              <a:rPr lang="en-GB" sz="1400" dirty="0"/>
              <a:t>, indicating widespread reliability challenges.</a:t>
            </a:r>
          </a:p>
          <a:p>
            <a:r>
              <a:rPr lang="en-GB" sz="1400" dirty="0"/>
              <a:t>Agent–route ranking (~</a:t>
            </a:r>
            <a:r>
              <a:rPr lang="en-GB" sz="1400" b="1" dirty="0"/>
              <a:t>645 records</a:t>
            </a:r>
            <a:r>
              <a:rPr lang="en-GB" sz="1400" dirty="0"/>
              <a:t>) reveals that </a:t>
            </a:r>
            <a:r>
              <a:rPr lang="en-GB" sz="1400" b="1" dirty="0"/>
              <a:t>agents on the same route often perform very differently</a:t>
            </a:r>
            <a:r>
              <a:rPr lang="en-GB" sz="1400" dirty="0"/>
              <a:t>, suggesting that delays are not purely route-driven.</a:t>
            </a:r>
          </a:p>
          <a:p>
            <a:r>
              <a:rPr lang="en-GB" sz="1400" dirty="0"/>
              <a:t>Comparison of the </a:t>
            </a:r>
            <a:r>
              <a:rPr lang="en-GB" sz="1400" b="1" dirty="0"/>
              <a:t>Top 5 vs Bottom 5 agents</a:t>
            </a:r>
            <a:r>
              <a:rPr lang="en-GB" sz="1400" dirty="0"/>
              <a:t> shows similar average ratings (</a:t>
            </a:r>
            <a:r>
              <a:rPr lang="en-GB" sz="1400" b="1" dirty="0"/>
              <a:t>~4.4–4.5</a:t>
            </a:r>
            <a:r>
              <a:rPr lang="en-GB" sz="1400" dirty="0"/>
              <a:t>) and experience (</a:t>
            </a:r>
            <a:r>
              <a:rPr lang="en-GB" sz="1400" b="1" dirty="0"/>
              <a:t>~2.3–2.4 years</a:t>
            </a:r>
            <a:r>
              <a:rPr lang="en-GB" sz="1400" dirty="0"/>
              <a:t>), indicating that ratings and tenure alone do not guarantee better delivery performance.</a:t>
            </a:r>
          </a:p>
          <a:p>
            <a:endParaRPr lang="en-GB" sz="1400" b="1" dirty="0"/>
          </a:p>
          <a:p>
            <a:pPr marL="0" indent="0">
              <a:buNone/>
            </a:pPr>
            <a:r>
              <a:rPr lang="en-GB" sz="1400" b="1" dirty="0"/>
              <a:t>      </a:t>
            </a:r>
            <a:r>
              <a:rPr lang="en-GB" sz="1800" b="1" dirty="0"/>
              <a:t>Business Recommendations</a:t>
            </a:r>
          </a:p>
          <a:p>
            <a:r>
              <a:rPr lang="en-GB" sz="1400" dirty="0"/>
              <a:t>Provide </a:t>
            </a:r>
            <a:r>
              <a:rPr lang="en-GB" sz="1400" b="1" dirty="0"/>
              <a:t>targeted training</a:t>
            </a:r>
            <a:r>
              <a:rPr lang="en-GB" sz="1400" dirty="0"/>
              <a:t> for agents with on-time performance </a:t>
            </a:r>
            <a:r>
              <a:rPr lang="en-GB" sz="1400" b="1" dirty="0"/>
              <a:t>below 10%</a:t>
            </a:r>
            <a:r>
              <a:rPr lang="en-GB" sz="1400" dirty="0"/>
              <a:t>, focusing on route familiarity, time management, and exception handling.</a:t>
            </a:r>
          </a:p>
          <a:p>
            <a:r>
              <a:rPr lang="en-GB" sz="1400" dirty="0"/>
              <a:t>Implement </a:t>
            </a:r>
            <a:r>
              <a:rPr lang="en-GB" sz="1400" b="1" dirty="0"/>
              <a:t>workload balancing</a:t>
            </a:r>
            <a:r>
              <a:rPr lang="en-GB" sz="1400" dirty="0"/>
              <a:t> by assigning complex or high-delay routes to consistently high-performing agents (</a:t>
            </a:r>
            <a:r>
              <a:rPr lang="en-GB" sz="1400" b="1" dirty="0"/>
              <a:t>20%+ on-time performance</a:t>
            </a:r>
            <a:r>
              <a:rPr lang="en-GB" sz="1400" dirty="0"/>
              <a:t>).</a:t>
            </a:r>
          </a:p>
          <a:p>
            <a:r>
              <a:rPr lang="en-GB" sz="1400" dirty="0"/>
              <a:t>Introduce </a:t>
            </a:r>
            <a:r>
              <a:rPr lang="en-GB" sz="1400" b="1" dirty="0"/>
              <a:t>performance-based monitoring and incentives</a:t>
            </a:r>
            <a:r>
              <a:rPr lang="en-GB" sz="1400" dirty="0"/>
              <a:t> to encourage improvement and accountability.</a:t>
            </a:r>
          </a:p>
          <a:p>
            <a:r>
              <a:rPr lang="en-GB" sz="1400" dirty="0"/>
              <a:t>Regularly review agent-level KPIs to identify early performance issues and take corrective action.</a:t>
            </a:r>
          </a:p>
          <a:p>
            <a:pPr marL="0" indent="0">
              <a:buNone/>
            </a:pPr>
            <a:endParaRPr lang="en-GB" sz="1400" dirty="0"/>
          </a:p>
          <a:p>
            <a:pPr marL="0" indent="0">
              <a:buNone/>
            </a:pPr>
            <a:r>
              <a:rPr lang="en-GB" sz="1400" b="1" dirty="0"/>
              <a:t>      </a:t>
            </a:r>
            <a:r>
              <a:rPr lang="en-GB" sz="1800" b="1" dirty="0"/>
              <a:t>Outcome Expected</a:t>
            </a:r>
          </a:p>
          <a:p>
            <a:r>
              <a:rPr lang="en-IN" sz="1400" dirty="0"/>
              <a:t>Improved agent-level delivery reliability</a:t>
            </a:r>
            <a:endParaRPr lang="en-GB" sz="1400" dirty="0"/>
          </a:p>
          <a:p>
            <a:r>
              <a:rPr lang="en-GB" sz="1400" dirty="0"/>
              <a:t>Reduced shipment delays caused by execution issues</a:t>
            </a:r>
          </a:p>
          <a:p>
            <a:r>
              <a:rPr lang="en-GB" sz="1400" dirty="0"/>
              <a:t>Better alignment of agent skills with route complexity</a:t>
            </a:r>
          </a:p>
          <a:p>
            <a:r>
              <a:rPr lang="en-GB" sz="1400" dirty="0"/>
              <a:t>Enhanced overall service quality and customer satisfaction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</a:pPr>
            <a:endParaRPr lang="en-GB" sz="1400" dirty="0"/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</a:pPr>
            <a:endParaRPr lang="en-IN" sz="1400" dirty="0"/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</a:pPr>
            <a:endParaRPr lang="en-IN" sz="1400" dirty="0"/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</a:pPr>
            <a:endParaRPr lang="en-IN" sz="1400" dirty="0"/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</a:pPr>
            <a:endParaRPr lang="en-IN" sz="1400" dirty="0"/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</a:pPr>
            <a:endParaRPr lang="en-IN" sz="1400" dirty="0"/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</a:pPr>
            <a:endParaRPr lang="en-IN" sz="1400" dirty="0"/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</a:pPr>
            <a:endParaRPr lang="en-IN" sz="1400" dirty="0"/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</a:pPr>
            <a:endParaRPr lang="en-IN" sz="1400" dirty="0"/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</a:pPr>
            <a:endParaRPr lang="en-IN" sz="1400" dirty="0"/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</a:pPr>
            <a:endParaRPr lang="en-IN" sz="1400" dirty="0"/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</a:pPr>
            <a:endParaRPr lang="en-IN" sz="1400" dirty="0"/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</a:pPr>
            <a:endParaRPr lang="en-IN" sz="1400" dirty="0"/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</a:pPr>
            <a:endParaRPr lang="en-IN" sz="1400" dirty="0"/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</a:pPr>
            <a:endParaRPr lang="en-IN" sz="1400" dirty="0"/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</a:pPr>
            <a:endParaRPr lang="en-IN" sz="1400" dirty="0"/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</a:pPr>
            <a:endParaRPr lang="en-IN" sz="1400" dirty="0"/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</a:pP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38746283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CBFAE8-CAFD-1584-4E7E-2297A30C80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79CFCE-55CA-1C9C-E790-4F96E38AB6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664234"/>
          </a:xfrm>
        </p:spPr>
        <p:txBody>
          <a:bodyPr>
            <a:normAutofit/>
          </a:bodyPr>
          <a:lstStyle/>
          <a:p>
            <a:pPr algn="ctr"/>
            <a:r>
              <a:rPr lang="en-GB" sz="2800" b="1" dirty="0"/>
              <a:t>Task 6: Shipment Tracking Analytics</a:t>
            </a:r>
            <a:endParaRPr lang="en-IN" sz="28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A53E0C-B963-9FAA-4FA3-33EC9D9104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524125"/>
            <a:ext cx="12192000" cy="4333874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GB" sz="1400" dirty="0"/>
              <a:t>Out of </a:t>
            </a:r>
            <a:r>
              <a:rPr lang="en-GB" sz="1400" b="1" dirty="0"/>
              <a:t>1000 shipments</a:t>
            </a:r>
            <a:r>
              <a:rPr lang="en-GB" sz="1400" dirty="0"/>
              <a:t>, </a:t>
            </a:r>
            <a:r>
              <a:rPr lang="en-GB" sz="1400" b="1" dirty="0"/>
              <a:t>895 shipments (~89%)</a:t>
            </a:r>
            <a:r>
              <a:rPr lang="en-GB" sz="1400" dirty="0"/>
              <a:t> have a final status of </a:t>
            </a:r>
            <a:r>
              <a:rPr lang="en-GB" sz="1400" b="1" dirty="0"/>
              <a:t>Delivered</a:t>
            </a:r>
            <a:r>
              <a:rPr lang="en-GB" sz="1400" dirty="0"/>
              <a:t>, indicating strong overall delivery completion.</a:t>
            </a:r>
            <a:br>
              <a:rPr lang="en-GB" sz="1400" dirty="0"/>
            </a:br>
            <a:r>
              <a:rPr lang="en-GB" sz="1400" dirty="0"/>
              <a:t>A smaller share of shipments are still </a:t>
            </a:r>
            <a:r>
              <a:rPr lang="en-GB" sz="1400" b="1" dirty="0"/>
              <a:t>In Transit (~9%)</a:t>
            </a:r>
            <a:r>
              <a:rPr lang="en-GB" sz="1400" dirty="0"/>
              <a:t>, while only </a:t>
            </a:r>
            <a:r>
              <a:rPr lang="en-GB" sz="1400" b="1" dirty="0"/>
              <a:t>~2% are Returned</a:t>
            </a:r>
            <a:r>
              <a:rPr lang="en-GB" sz="1400" dirty="0"/>
              <a:t>, suggesting limited delivery failures.</a:t>
            </a:r>
            <a:br>
              <a:rPr lang="en-GB" sz="1400" dirty="0"/>
            </a:br>
            <a:r>
              <a:rPr lang="en-GB" sz="1400" dirty="0"/>
              <a:t>Using the latest delivery date ensures shipment status reporting reflects the </a:t>
            </a:r>
            <a:r>
              <a:rPr lang="en-GB" sz="1400" b="1" dirty="0"/>
              <a:t>most current and accurate operational state</a:t>
            </a:r>
            <a:r>
              <a:rPr lang="en-GB" sz="1400" dirty="0"/>
              <a:t>.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</a:pPr>
            <a:br>
              <a:rPr lang="en-GB" sz="1400" b="1" dirty="0"/>
            </a:br>
            <a:r>
              <a:rPr lang="en-GB" sz="1400" dirty="0"/>
              <a:t>Several routes have a </a:t>
            </a:r>
            <a:r>
              <a:rPr lang="en-GB" sz="1400" b="1" dirty="0"/>
              <a:t>high proportion of shipments still unresolved</a:t>
            </a:r>
            <a:r>
              <a:rPr lang="en-GB" sz="1400" dirty="0"/>
              <a:t>, with </a:t>
            </a:r>
            <a:r>
              <a:rPr lang="en-GB" sz="1400" b="1" dirty="0"/>
              <a:t>Route R018</a:t>
            </a:r>
            <a:r>
              <a:rPr lang="en-GB" sz="1400" dirty="0"/>
              <a:t> showing the highest issue rate at </a:t>
            </a:r>
            <a:r>
              <a:rPr lang="en-GB" sz="1400" b="1" dirty="0"/>
              <a:t>~18.6%</a:t>
            </a:r>
            <a:r>
              <a:rPr lang="en-GB" sz="1400" dirty="0"/>
              <a:t>.</a:t>
            </a:r>
            <a:br>
              <a:rPr lang="en-GB" sz="1400" dirty="0"/>
            </a:br>
            <a:r>
              <a:rPr lang="en-GB" sz="1400" dirty="0"/>
              <a:t>Routes such as </a:t>
            </a:r>
            <a:r>
              <a:rPr lang="en-GB" sz="1400" b="1" dirty="0"/>
              <a:t>R013 (~18.0%)</a:t>
            </a:r>
            <a:r>
              <a:rPr lang="en-GB" sz="1400" dirty="0"/>
              <a:t>, </a:t>
            </a:r>
            <a:r>
              <a:rPr lang="en-GB" sz="1400" b="1" dirty="0"/>
              <a:t>R020 (~16.7%)</a:t>
            </a:r>
            <a:r>
              <a:rPr lang="en-GB" sz="1400" dirty="0"/>
              <a:t>, and </a:t>
            </a:r>
            <a:r>
              <a:rPr lang="en-GB" sz="1400" b="1" dirty="0"/>
              <a:t>R002 (~14.9%)</a:t>
            </a:r>
            <a:r>
              <a:rPr lang="en-GB" sz="1400" dirty="0"/>
              <a:t> also exhibit a significant share of shipments marked as </a:t>
            </a:r>
            <a:r>
              <a:rPr lang="en-GB" sz="1400" b="1" dirty="0"/>
              <a:t>In Transit or Returned</a:t>
            </a:r>
            <a:r>
              <a:rPr lang="en-GB" sz="1400" dirty="0"/>
              <a:t>.</a:t>
            </a:r>
            <a:br>
              <a:rPr lang="en-GB" sz="1400" dirty="0"/>
            </a:br>
            <a:r>
              <a:rPr lang="en-GB" sz="1400" dirty="0"/>
              <a:t>Although no route exceeds the 50% threshold, these routes show </a:t>
            </a:r>
            <a:r>
              <a:rPr lang="en-GB" sz="1400" b="1" dirty="0"/>
              <a:t>comparatively higher operational risk</a:t>
            </a:r>
            <a:r>
              <a:rPr lang="en-GB" sz="1400" dirty="0"/>
              <a:t> and require closer monitoring.</a:t>
            </a:r>
            <a:br>
              <a:rPr lang="en-GB" sz="1400" dirty="0"/>
            </a:br>
            <a:r>
              <a:rPr lang="en-GB" sz="1400" dirty="0"/>
              <a:t>Targeted intervention on these routes can help reduce unresolved shipments and improve overall delivery completion rates.</a:t>
            </a:r>
            <a:endParaRPr lang="en-GB" sz="1400" b="1" dirty="0"/>
          </a:p>
          <a:p>
            <a:pPr marL="0" indent="0">
              <a:buNone/>
            </a:pPr>
            <a:endParaRPr lang="en-IN" sz="1400" dirty="0"/>
          </a:p>
          <a:p>
            <a:pPr marL="0" indent="0">
              <a:buNone/>
            </a:pPr>
            <a:endParaRPr lang="en-IN" sz="1400" dirty="0"/>
          </a:p>
          <a:p>
            <a:pPr marL="0" indent="0">
              <a:buNone/>
            </a:pPr>
            <a:endParaRPr lang="en-IN" sz="1400" dirty="0"/>
          </a:p>
          <a:p>
            <a:pPr marL="0" indent="0">
              <a:buNone/>
            </a:pPr>
            <a:endParaRPr lang="en-IN" sz="1400" dirty="0"/>
          </a:p>
          <a:p>
            <a:pPr marL="0" indent="0">
              <a:buNone/>
            </a:pPr>
            <a:endParaRPr lang="en-IN" sz="1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E594B00-5B4D-EC7E-D7F2-7A2CEF9FB5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763" y="4313"/>
            <a:ext cx="1705213" cy="251981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B4018D9-8E1E-0E01-3B6A-CBD981A16F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657555"/>
            <a:ext cx="2667372" cy="161452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EDD4E808-DE7C-3BB8-D6E9-AF58B444F3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7109" y="952151"/>
            <a:ext cx="2400635" cy="3077004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81B822AA-8815-17FD-4B49-7BE40D3308F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11916" y="580624"/>
            <a:ext cx="3353268" cy="3448531"/>
          </a:xfrm>
          <a:prstGeom prst="rect">
            <a:avLst/>
          </a:prstGeom>
        </p:spPr>
      </p:pic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B818E871-7947-B93C-1462-A4F338AB8CF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4725234"/>
              </p:ext>
            </p:extLst>
          </p:nvPr>
        </p:nvGraphicFramePr>
        <p:xfrm>
          <a:off x="1703450" y="1119053"/>
          <a:ext cx="4593238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extLst>
      <p:ext uri="{BB962C8B-B14F-4D97-AF65-F5344CB8AC3E}">
        <p14:creationId xmlns:p14="http://schemas.microsoft.com/office/powerpoint/2010/main" val="4838932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C572A1-0A7F-0E5E-EBBB-6D03BE22C0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C47E7-8E87-F21C-5CEA-CF792A6682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664234"/>
          </a:xfrm>
        </p:spPr>
        <p:txBody>
          <a:bodyPr>
            <a:normAutofit/>
          </a:bodyPr>
          <a:lstStyle/>
          <a:p>
            <a:pPr algn="ctr"/>
            <a:r>
              <a:rPr lang="en-GB" sz="2800" b="1" dirty="0"/>
              <a:t>Task 6: Shipment Tracking Analytics</a:t>
            </a:r>
            <a:endParaRPr lang="en-IN" sz="28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FB49F6-6E87-32E8-C39F-CCDF77BDB4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831425"/>
            <a:ext cx="12192000" cy="4347972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GB" sz="1400" b="1" dirty="0"/>
              <a:t>Traffic-related delays</a:t>
            </a:r>
            <a:r>
              <a:rPr lang="en-GB" sz="1400" dirty="0"/>
              <a:t> are the most frequent, accounting for </a:t>
            </a:r>
            <a:r>
              <a:rPr lang="en-GB" sz="1400" b="1" dirty="0"/>
              <a:t>~51% (474 cases)</a:t>
            </a:r>
            <a:r>
              <a:rPr lang="en-GB" sz="1400" dirty="0"/>
              <a:t> of all delayed shipments.</a:t>
            </a:r>
            <a:br>
              <a:rPr lang="en-GB" sz="1400" dirty="0"/>
            </a:br>
            <a:r>
              <a:rPr lang="en-GB" sz="1400" b="1" dirty="0"/>
              <a:t>Weather issues</a:t>
            </a:r>
            <a:r>
              <a:rPr lang="en-GB" sz="1400" dirty="0"/>
              <a:t> contribute to </a:t>
            </a:r>
            <a:r>
              <a:rPr lang="en-GB" sz="1400" b="1" dirty="0"/>
              <a:t>~31% (292 cases)</a:t>
            </a:r>
            <a:r>
              <a:rPr lang="en-GB" sz="1400" dirty="0"/>
              <a:t> of delays, indicating external environmental impact on delivery performance.</a:t>
            </a:r>
            <a:br>
              <a:rPr lang="en-GB" sz="1400" dirty="0"/>
            </a:br>
            <a:r>
              <a:rPr lang="en-GB" sz="1400" b="1" dirty="0"/>
              <a:t>Technical issues</a:t>
            </a:r>
            <a:r>
              <a:rPr lang="en-GB" sz="1400" dirty="0"/>
              <a:t> account for </a:t>
            </a:r>
            <a:r>
              <a:rPr lang="en-GB" sz="1400" b="1" dirty="0"/>
              <a:t>~18% (166 cases)</a:t>
            </a:r>
            <a:r>
              <a:rPr lang="en-GB" sz="1400" dirty="0"/>
              <a:t>, highlighting internal operational challenges.</a:t>
            </a:r>
            <a:br>
              <a:rPr lang="en-GB" sz="1400" dirty="0"/>
            </a:br>
            <a:r>
              <a:rPr lang="en-GB" sz="1400" dirty="0"/>
              <a:t>These insights suggest that traffic management and contingency planning should be key focus areas to reduce overall delays.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GB" sz="1400" dirty="0"/>
              <a:t>Out of </a:t>
            </a:r>
            <a:r>
              <a:rPr lang="en-GB" sz="1400" b="1" dirty="0"/>
              <a:t>1000 total Shipments</a:t>
            </a:r>
            <a:r>
              <a:rPr lang="en-GB" sz="1400" dirty="0"/>
              <a:t>, </a:t>
            </a:r>
            <a:r>
              <a:rPr lang="en-GB" sz="1400" b="1" dirty="0"/>
              <a:t>52 orders</a:t>
            </a:r>
            <a:r>
              <a:rPr lang="en-GB" sz="1400" dirty="0"/>
              <a:t> </a:t>
            </a:r>
            <a:r>
              <a:rPr lang="en-GB" sz="1400" b="1" dirty="0"/>
              <a:t>(~ 5.2%) </a:t>
            </a:r>
            <a:r>
              <a:rPr lang="en-GB" sz="1400" dirty="0"/>
              <a:t>experienced </a:t>
            </a:r>
            <a:r>
              <a:rPr lang="en-GB" sz="1400" b="1" dirty="0"/>
              <a:t>exceptionally high delays exceeding 120 hours</a:t>
            </a:r>
            <a:r>
              <a:rPr lang="en-GB" sz="1400" dirty="0"/>
              <a:t>, indicating a notable subset of critical cases.</a:t>
            </a:r>
            <a:br>
              <a:rPr lang="en-GB" sz="1400" dirty="0"/>
            </a:br>
            <a:r>
              <a:rPr lang="en-GB" sz="1400" dirty="0"/>
              <a:t>The highest delays reach up to </a:t>
            </a:r>
            <a:r>
              <a:rPr lang="en-GB" sz="1400" b="1" dirty="0"/>
              <a:t>~239 hours</a:t>
            </a:r>
            <a:r>
              <a:rPr lang="en-GB" sz="1400" dirty="0"/>
              <a:t>, with many orders falling in the </a:t>
            </a:r>
            <a:r>
              <a:rPr lang="en-GB" sz="1400" b="1" dirty="0"/>
              <a:t>150–200+ hour range</a:t>
            </a:r>
            <a:r>
              <a:rPr lang="en-GB" sz="1400" dirty="0"/>
              <a:t>.</a:t>
            </a:r>
            <a:br>
              <a:rPr lang="en-GB" sz="1400" dirty="0"/>
            </a:br>
            <a:r>
              <a:rPr lang="en-GB" sz="1400" dirty="0"/>
              <a:t>These extreme delays point to systemic bottlenecks such as route disruptions, warehouse congestion, or exception handling gaps.</a:t>
            </a:r>
            <a:br>
              <a:rPr lang="en-GB" sz="1400" dirty="0"/>
            </a:br>
            <a:r>
              <a:rPr lang="en-GB" sz="1400" dirty="0"/>
              <a:t>Focusing root-cause analysis on these </a:t>
            </a:r>
            <a:r>
              <a:rPr lang="en-GB" sz="1400" b="1" dirty="0"/>
              <a:t>52 high-delay orders</a:t>
            </a:r>
            <a:r>
              <a:rPr lang="en-GB" sz="1400" dirty="0"/>
              <a:t> can significantly improve overall delivery performance.</a:t>
            </a:r>
            <a:endParaRPr lang="en-GB" sz="1400" b="1" dirty="0"/>
          </a:p>
          <a:p>
            <a:pPr marL="0" indent="0">
              <a:buNone/>
            </a:pPr>
            <a:endParaRPr lang="en-IN" sz="1400" dirty="0"/>
          </a:p>
          <a:p>
            <a:pPr marL="0" indent="0">
              <a:buNone/>
            </a:pPr>
            <a:endParaRPr lang="en-IN" sz="1400" dirty="0"/>
          </a:p>
          <a:p>
            <a:pPr marL="0" indent="0">
              <a:buNone/>
            </a:pPr>
            <a:endParaRPr lang="en-IN" sz="1400" dirty="0"/>
          </a:p>
          <a:p>
            <a:pPr marL="0" indent="0">
              <a:buNone/>
            </a:pPr>
            <a:endParaRPr lang="en-IN" sz="1400" dirty="0"/>
          </a:p>
          <a:p>
            <a:pPr marL="0" indent="0">
              <a:buNone/>
            </a:pPr>
            <a:endParaRPr lang="en-IN" sz="1400" dirty="0"/>
          </a:p>
          <a:p>
            <a:pPr marL="0" indent="0">
              <a:buNone/>
            </a:pPr>
            <a:endParaRPr lang="en-IN" sz="1400" dirty="0"/>
          </a:p>
        </p:txBody>
      </p:sp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88EFD8CA-47CB-4414-F4B2-F9B3854531C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03110306"/>
              </p:ext>
            </p:extLst>
          </p:nvPr>
        </p:nvGraphicFramePr>
        <p:xfrm>
          <a:off x="-1" y="0"/>
          <a:ext cx="3341298" cy="27295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2" name="Chart 11">
            <a:extLst>
              <a:ext uri="{FF2B5EF4-FFF2-40B4-BE49-F238E27FC236}">
                <a16:creationId xmlns:a16="http://schemas.microsoft.com/office/drawing/2014/main" id="{DABB24F1-3CE7-7FEB-F2E1-21779970A8B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05971236"/>
              </p:ext>
            </p:extLst>
          </p:nvPr>
        </p:nvGraphicFramePr>
        <p:xfrm>
          <a:off x="0" y="2192731"/>
          <a:ext cx="12192000" cy="249858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5F555BA0-C819-55D9-C3FD-1139C101F7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4181" y="856586"/>
            <a:ext cx="2943636" cy="102884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04C58A4-8038-1D3C-5714-C1D750177C1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03183" y="1163887"/>
            <a:ext cx="2372056" cy="1028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97927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E4B112-813E-116D-D8D0-08D737FA49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633C56-BB34-0CDE-A05C-4BF5381B48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345056"/>
            <a:ext cx="10515600" cy="1466490"/>
          </a:xfrm>
        </p:spPr>
        <p:txBody>
          <a:bodyPr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en-GB" sz="2800" b="1" dirty="0"/>
              <a:t>Task 6: Shipment Tracking Analytics</a:t>
            </a:r>
            <a:br>
              <a:rPr lang="en-GB" sz="2800" b="1" dirty="0"/>
            </a:br>
            <a:r>
              <a:rPr lang="en-IN" sz="1800" b="1" dirty="0"/>
              <a:t>(KEY INSIGHTS &amp; RECOMMENDATIONS)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B31306-7162-EAC4-7F08-1017A7E968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785004"/>
            <a:ext cx="12192000" cy="607299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400" dirty="0"/>
              <a:t>      </a:t>
            </a:r>
            <a:r>
              <a:rPr lang="en-GB" sz="1800" b="1" dirty="0"/>
              <a:t>Key Insights</a:t>
            </a:r>
          </a:p>
          <a:p>
            <a:r>
              <a:rPr lang="en-GB" sz="1400" dirty="0"/>
              <a:t>Out of approximately </a:t>
            </a:r>
            <a:r>
              <a:rPr lang="en-GB" sz="1400" b="1" dirty="0"/>
              <a:t>1000 shipments</a:t>
            </a:r>
            <a:r>
              <a:rPr lang="en-GB" sz="1400" dirty="0"/>
              <a:t>, </a:t>
            </a:r>
            <a:r>
              <a:rPr lang="en-GB" sz="1400" b="1" dirty="0"/>
              <a:t>~89% (895)</a:t>
            </a:r>
            <a:r>
              <a:rPr lang="en-GB" sz="1400" dirty="0"/>
              <a:t> have been successfully </a:t>
            </a:r>
            <a:r>
              <a:rPr lang="en-GB" sz="1400" b="1" dirty="0"/>
              <a:t>Delivered</a:t>
            </a:r>
            <a:r>
              <a:rPr lang="en-GB" sz="1400" dirty="0"/>
              <a:t>, while </a:t>
            </a:r>
            <a:r>
              <a:rPr lang="en-GB" sz="1400" b="1" dirty="0"/>
              <a:t>~9% remain In Transit</a:t>
            </a:r>
            <a:r>
              <a:rPr lang="en-GB" sz="1400" dirty="0"/>
              <a:t> and </a:t>
            </a:r>
            <a:r>
              <a:rPr lang="en-GB" sz="1400" b="1" dirty="0"/>
              <a:t>~2% are Returned</a:t>
            </a:r>
            <a:r>
              <a:rPr lang="en-GB" sz="1400" dirty="0"/>
              <a:t>, indicating strong completion but some unresolved cases.</a:t>
            </a:r>
          </a:p>
          <a:p>
            <a:r>
              <a:rPr lang="en-GB" sz="1400" dirty="0"/>
              <a:t>Certain routes such as </a:t>
            </a:r>
            <a:r>
              <a:rPr lang="en-GB" sz="1400" b="1" dirty="0"/>
              <a:t>R018 (~18.6%)</a:t>
            </a:r>
            <a:r>
              <a:rPr lang="en-GB" sz="1400" dirty="0"/>
              <a:t>, </a:t>
            </a:r>
            <a:r>
              <a:rPr lang="en-GB" sz="1400" b="1" dirty="0"/>
              <a:t>R013 (~18.0%)</a:t>
            </a:r>
            <a:r>
              <a:rPr lang="en-GB" sz="1400" dirty="0"/>
              <a:t>, </a:t>
            </a:r>
            <a:r>
              <a:rPr lang="en-GB" sz="1400" b="1" dirty="0"/>
              <a:t>R020 (~16.7%)</a:t>
            </a:r>
            <a:r>
              <a:rPr lang="en-GB" sz="1400" dirty="0"/>
              <a:t>, and </a:t>
            </a:r>
            <a:r>
              <a:rPr lang="en-GB" sz="1400" b="1" dirty="0"/>
              <a:t>R002 (~14.9%)</a:t>
            </a:r>
            <a:r>
              <a:rPr lang="en-GB" sz="1400" dirty="0"/>
              <a:t> show a relatively higher proportion of shipments still </a:t>
            </a:r>
            <a:r>
              <a:rPr lang="en-GB" sz="1400" b="1" dirty="0"/>
              <a:t>In Transit or Returned</a:t>
            </a:r>
            <a:r>
              <a:rPr lang="en-GB" sz="1400" dirty="0"/>
              <a:t>, posing operational risk.</a:t>
            </a:r>
          </a:p>
          <a:p>
            <a:r>
              <a:rPr lang="en-GB" sz="1400" b="1" dirty="0"/>
              <a:t>Traffic delays</a:t>
            </a:r>
            <a:r>
              <a:rPr lang="en-GB" sz="1400" dirty="0"/>
              <a:t> are the most frequent delay reason (</a:t>
            </a:r>
            <a:r>
              <a:rPr lang="en-GB" sz="1400" b="1" dirty="0"/>
              <a:t>~51%, 474 cases</a:t>
            </a:r>
            <a:r>
              <a:rPr lang="en-GB" sz="1400" dirty="0"/>
              <a:t>), followed by </a:t>
            </a:r>
            <a:r>
              <a:rPr lang="en-GB" sz="1400" b="1" dirty="0"/>
              <a:t>Weather (~31%, 292 cases)</a:t>
            </a:r>
            <a:r>
              <a:rPr lang="en-GB" sz="1400" dirty="0"/>
              <a:t> and </a:t>
            </a:r>
            <a:r>
              <a:rPr lang="en-GB" sz="1400" b="1" dirty="0"/>
              <a:t>Technical Issues (~18%, 166 cases)</a:t>
            </a:r>
            <a:r>
              <a:rPr lang="en-GB" sz="1400" dirty="0"/>
              <a:t>.</a:t>
            </a:r>
          </a:p>
          <a:p>
            <a:r>
              <a:rPr lang="en-GB" sz="1400" dirty="0"/>
              <a:t>From </a:t>
            </a:r>
            <a:r>
              <a:rPr lang="en-GB" sz="1400" b="1" dirty="0"/>
              <a:t>300 total orders</a:t>
            </a:r>
            <a:r>
              <a:rPr lang="en-GB" sz="1400" dirty="0"/>
              <a:t>, </a:t>
            </a:r>
            <a:r>
              <a:rPr lang="en-GB" sz="1400" b="1" dirty="0"/>
              <a:t>52 orders</a:t>
            </a:r>
            <a:r>
              <a:rPr lang="en-GB" sz="1400" dirty="0"/>
              <a:t> experienced </a:t>
            </a:r>
            <a:r>
              <a:rPr lang="en-GB" sz="1400" b="1" dirty="0"/>
              <a:t>exceptionally high delays (&gt;120 hours)</a:t>
            </a:r>
            <a:r>
              <a:rPr lang="en-GB" sz="1400" dirty="0"/>
              <a:t>, with delays reaching up to </a:t>
            </a:r>
            <a:r>
              <a:rPr lang="en-GB" sz="1400" b="1" dirty="0"/>
              <a:t>~239 hours</a:t>
            </a:r>
            <a:r>
              <a:rPr lang="en-GB" sz="1400" dirty="0"/>
              <a:t>, indicating severe bottlenecks.</a:t>
            </a:r>
            <a:br>
              <a:rPr lang="en-GB" sz="1400" dirty="0"/>
            </a:br>
            <a:endParaRPr lang="en-GB" sz="1400" dirty="0"/>
          </a:p>
          <a:p>
            <a:pPr marL="0" indent="0">
              <a:buNone/>
            </a:pPr>
            <a:r>
              <a:rPr lang="en-GB" sz="1400" b="1" dirty="0"/>
              <a:t>      </a:t>
            </a:r>
            <a:r>
              <a:rPr lang="en-GB" sz="1800" b="1" dirty="0"/>
              <a:t>Business Recommendations</a:t>
            </a:r>
          </a:p>
          <a:p>
            <a:r>
              <a:rPr lang="en-GB" sz="1400" b="1" dirty="0"/>
              <a:t>Closely monitor routes with higher unresolved shipment percentages</a:t>
            </a:r>
            <a:r>
              <a:rPr lang="en-GB" sz="1400" dirty="0"/>
              <a:t> and implement proactive intervention to reduce In Transit and Returned cases.</a:t>
            </a:r>
          </a:p>
          <a:p>
            <a:r>
              <a:rPr lang="en-GB" sz="1400" dirty="0"/>
              <a:t>Address </a:t>
            </a:r>
            <a:r>
              <a:rPr lang="en-GB" sz="1400" b="1" dirty="0"/>
              <a:t>traffic-related delays</a:t>
            </a:r>
            <a:r>
              <a:rPr lang="en-GB" sz="1400" dirty="0"/>
              <a:t> through dynamic routing, buffer planning, and peak-hour delivery optimization.</a:t>
            </a:r>
          </a:p>
          <a:p>
            <a:r>
              <a:rPr lang="en-GB" sz="1400" dirty="0"/>
              <a:t>Investigate </a:t>
            </a:r>
            <a:r>
              <a:rPr lang="en-GB" sz="1400" b="1" dirty="0"/>
              <a:t>high-delay orders (&gt;120 hours)</a:t>
            </a:r>
            <a:r>
              <a:rPr lang="en-GB" sz="1400" dirty="0"/>
              <a:t> individually to identify root causes such as warehouse congestion, route disruption, or exception handling gaps.</a:t>
            </a:r>
          </a:p>
          <a:p>
            <a:r>
              <a:rPr lang="en-GB" sz="1400" dirty="0"/>
              <a:t>Strengthen </a:t>
            </a:r>
            <a:r>
              <a:rPr lang="en-GB" sz="1400" b="1" dirty="0"/>
              <a:t>real-time shipment tracking and escalation mechanisms</a:t>
            </a:r>
            <a:r>
              <a:rPr lang="en-GB" sz="1400" dirty="0"/>
              <a:t> to prevent prolonged delays and improve delivery reliability.</a:t>
            </a:r>
            <a:br>
              <a:rPr lang="en-GB" sz="1400" dirty="0"/>
            </a:br>
            <a:endParaRPr lang="en-GB" sz="1400" dirty="0"/>
          </a:p>
          <a:p>
            <a:pPr marL="0" indent="0">
              <a:buNone/>
            </a:pPr>
            <a:r>
              <a:rPr lang="en-GB" sz="1400" b="1" dirty="0"/>
              <a:t>      </a:t>
            </a:r>
            <a:r>
              <a:rPr lang="en-GB" sz="1800" b="1" dirty="0"/>
              <a:t>Outcome Expected</a:t>
            </a:r>
          </a:p>
          <a:p>
            <a:r>
              <a:rPr lang="en-GB" sz="1400" dirty="0"/>
              <a:t>Faster resolution of In Transit and Returned shipments</a:t>
            </a:r>
          </a:p>
          <a:p>
            <a:r>
              <a:rPr lang="en-GB" sz="1400" dirty="0"/>
              <a:t>Reduced extreme delay cases</a:t>
            </a:r>
          </a:p>
          <a:p>
            <a:r>
              <a:rPr lang="en-GB" sz="1400" dirty="0"/>
              <a:t>Improved shipment visibility and control</a:t>
            </a:r>
          </a:p>
          <a:p>
            <a:r>
              <a:rPr lang="en-GB" sz="1400" dirty="0"/>
              <a:t>Enhanced customer satisfaction and SLA adherence</a:t>
            </a:r>
          </a:p>
          <a:p>
            <a:pPr marL="0" indent="0">
              <a:buNone/>
            </a:pPr>
            <a:endParaRPr lang="en-IN" sz="1400" dirty="0"/>
          </a:p>
          <a:p>
            <a:pPr marL="0" indent="0">
              <a:buNone/>
            </a:pPr>
            <a:endParaRPr lang="en-IN" sz="1400" dirty="0"/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</a:pPr>
            <a:endParaRPr lang="en-GB" sz="1400" b="1" dirty="0"/>
          </a:p>
          <a:p>
            <a:pPr marL="0" indent="0">
              <a:buNone/>
            </a:pPr>
            <a:endParaRPr lang="en-IN" sz="1400" dirty="0"/>
          </a:p>
          <a:p>
            <a:pPr marL="0" indent="0">
              <a:buNone/>
            </a:pPr>
            <a:endParaRPr lang="en-IN" sz="1400" dirty="0"/>
          </a:p>
          <a:p>
            <a:pPr marL="0" indent="0">
              <a:buNone/>
            </a:pPr>
            <a:endParaRPr lang="en-IN" sz="1400" dirty="0"/>
          </a:p>
          <a:p>
            <a:pPr marL="0" indent="0">
              <a:buNone/>
            </a:pPr>
            <a:endParaRPr lang="en-IN" sz="1400" dirty="0"/>
          </a:p>
          <a:p>
            <a:pPr marL="0" indent="0">
              <a:buNone/>
            </a:pPr>
            <a:endParaRPr lang="en-IN" sz="1400" dirty="0"/>
          </a:p>
          <a:p>
            <a:pPr marL="0" indent="0">
              <a:buNone/>
            </a:pPr>
            <a:endParaRPr lang="en-IN" sz="1400" dirty="0"/>
          </a:p>
          <a:p>
            <a:pPr marL="0" indent="0">
              <a:buNone/>
            </a:pPr>
            <a:endParaRPr lang="en-IN" sz="1400" dirty="0"/>
          </a:p>
          <a:p>
            <a:pPr marL="0" indent="0">
              <a:buNone/>
            </a:pPr>
            <a:endParaRPr lang="en-IN" sz="1400" dirty="0"/>
          </a:p>
          <a:p>
            <a:pPr marL="0" indent="0">
              <a:buNone/>
            </a:pPr>
            <a:endParaRPr lang="en-IN" sz="1400" dirty="0"/>
          </a:p>
          <a:p>
            <a:pPr marL="0" indent="0">
              <a:buNone/>
            </a:pPr>
            <a:endParaRPr lang="en-IN" sz="1400" dirty="0"/>
          </a:p>
          <a:p>
            <a:pPr marL="0" indent="0">
              <a:buNone/>
            </a:pPr>
            <a:endParaRPr lang="en-IN" sz="1400" dirty="0"/>
          </a:p>
          <a:p>
            <a:pPr marL="0" indent="0">
              <a:buNone/>
            </a:pPr>
            <a:endParaRPr lang="en-IN" sz="1400" dirty="0"/>
          </a:p>
          <a:p>
            <a:pPr marL="0" indent="0">
              <a:buNone/>
            </a:pPr>
            <a:endParaRPr lang="en-IN" sz="1400" dirty="0"/>
          </a:p>
          <a:p>
            <a:pPr marL="0" indent="0">
              <a:buNone/>
            </a:pPr>
            <a:endParaRPr lang="en-IN" sz="1400" dirty="0"/>
          </a:p>
          <a:p>
            <a:pPr marL="0" indent="0">
              <a:buNone/>
            </a:pP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20979089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AE4F1A-D664-8D83-D2E1-C58BDA67C8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1AC114-92F8-366D-6DB2-E5ED7E7EA2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664234"/>
          </a:xfrm>
        </p:spPr>
        <p:txBody>
          <a:bodyPr>
            <a:normAutofit/>
          </a:bodyPr>
          <a:lstStyle/>
          <a:p>
            <a:pPr algn="ctr"/>
            <a:r>
              <a:rPr lang="en-GB" sz="2800" b="1" dirty="0"/>
              <a:t>Task 7: Advanced KPI Reporting</a:t>
            </a:r>
            <a:endParaRPr lang="en-IN" sz="28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6C3A6A-945B-96F3-DFE2-4E57D2F0C6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978589"/>
            <a:ext cx="12192000" cy="431850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sz="1400" dirty="0"/>
          </a:p>
          <a:p>
            <a:pPr marL="0" indent="0">
              <a:buNone/>
            </a:pPr>
            <a:endParaRPr lang="en-IN" sz="1400" dirty="0"/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GB" sz="1400" dirty="0"/>
              <a:t>Average delivery delay varies significantly by source country, ranging from </a:t>
            </a:r>
            <a:r>
              <a:rPr lang="en-GB" sz="1400" b="1" dirty="0"/>
              <a:t>~9.7 hours (Canada)</a:t>
            </a:r>
            <a:r>
              <a:rPr lang="en-GB" sz="1400" dirty="0"/>
              <a:t> to </a:t>
            </a:r>
            <a:r>
              <a:rPr lang="en-GB" sz="1400" b="1" dirty="0"/>
              <a:t>~41 hours (UAE)</a:t>
            </a:r>
            <a:r>
              <a:rPr lang="en-GB" sz="1400" dirty="0"/>
              <a:t>.</a:t>
            </a:r>
            <a:br>
              <a:rPr lang="en-GB" sz="1400" dirty="0"/>
            </a:br>
            <a:r>
              <a:rPr lang="en-GB" sz="1400" dirty="0"/>
              <a:t>Countries such as </a:t>
            </a:r>
            <a:r>
              <a:rPr lang="en-GB" sz="1400" b="1" dirty="0"/>
              <a:t>UAE, Turkey, China, and Singapore</a:t>
            </a:r>
            <a:r>
              <a:rPr lang="en-GB" sz="1400" dirty="0"/>
              <a:t> show higher average delays (</a:t>
            </a:r>
            <a:r>
              <a:rPr lang="en-GB" sz="1400" b="1" dirty="0"/>
              <a:t>30+ hours</a:t>
            </a:r>
            <a:r>
              <a:rPr lang="en-GB" sz="1400" dirty="0"/>
              <a:t>), indicating upstream operational challenges.</a:t>
            </a:r>
            <a:br>
              <a:rPr lang="en-GB" sz="1400" dirty="0"/>
            </a:br>
            <a:r>
              <a:rPr lang="en-GB" sz="1400" dirty="0"/>
              <a:t>In contrast, </a:t>
            </a:r>
            <a:r>
              <a:rPr lang="en-GB" sz="1400" b="1" dirty="0"/>
              <a:t>Japan, Australia, South Africa, and Germany</a:t>
            </a:r>
            <a:r>
              <a:rPr lang="en-GB" sz="1400" dirty="0"/>
              <a:t> maintain relatively lower delays (</a:t>
            </a:r>
            <a:r>
              <a:rPr lang="en-GB" sz="1400" b="1" dirty="0"/>
              <a:t>below 14 hours</a:t>
            </a:r>
            <a:r>
              <a:rPr lang="en-GB" sz="1400" dirty="0"/>
              <a:t>), reflecting more efficient dispatch performance.</a:t>
            </a:r>
            <a:br>
              <a:rPr lang="en-GB" sz="1400" dirty="0"/>
            </a:br>
            <a:r>
              <a:rPr lang="en-GB" sz="1400" dirty="0"/>
              <a:t>These differences highlight the need for </a:t>
            </a:r>
            <a:r>
              <a:rPr lang="en-GB" sz="1400" b="1" dirty="0"/>
              <a:t>country-specific logistics optimization and SLA calibration</a:t>
            </a:r>
            <a:r>
              <a:rPr lang="en-GB" sz="1400" dirty="0"/>
              <a:t>.</a:t>
            </a:r>
            <a:br>
              <a:rPr lang="en-GB" sz="1400" dirty="0"/>
            </a:br>
            <a:br>
              <a:rPr lang="en-GB" sz="1400" dirty="0"/>
            </a:br>
            <a:r>
              <a:rPr lang="en-GB" sz="1400" dirty="0"/>
              <a:t>The overall </a:t>
            </a:r>
            <a:r>
              <a:rPr lang="en-GB" sz="1400" b="1" dirty="0"/>
              <a:t>On-Time Delivery Percentage is ~6.8%</a:t>
            </a:r>
            <a:r>
              <a:rPr lang="en-GB" sz="1400" dirty="0"/>
              <a:t>, indicating a significant gap between actual performance and expected service levels.</a:t>
            </a:r>
            <a:br>
              <a:rPr lang="en-GB" sz="1400" dirty="0"/>
            </a:br>
            <a:r>
              <a:rPr lang="en-GB" sz="1400" dirty="0"/>
              <a:t>This low on-time rate suggests that </a:t>
            </a:r>
            <a:r>
              <a:rPr lang="en-GB" sz="1400" b="1" dirty="0"/>
              <a:t>most shipments experience some level of delay</a:t>
            </a:r>
            <a:r>
              <a:rPr lang="en-GB" sz="1400" dirty="0"/>
              <a:t>, even if minor.</a:t>
            </a:r>
            <a:br>
              <a:rPr lang="en-GB" sz="1400" dirty="0"/>
            </a:br>
            <a:r>
              <a:rPr lang="en-GB" sz="1400" dirty="0"/>
              <a:t>The metric highlights systemic challenges across routes, warehouses, and agents rather than isolated issues.</a:t>
            </a:r>
            <a:br>
              <a:rPr lang="en-GB" sz="1400" dirty="0"/>
            </a:br>
            <a:r>
              <a:rPr lang="en-GB" sz="1400" dirty="0"/>
              <a:t>Improving on-time delivery should be a </a:t>
            </a:r>
            <a:r>
              <a:rPr lang="en-GB" sz="1400" b="1" dirty="0"/>
              <a:t>top operational priority</a:t>
            </a:r>
            <a:r>
              <a:rPr lang="en-GB" sz="1400" dirty="0"/>
              <a:t> to meet SLA commitments and customer expectations.</a:t>
            </a:r>
            <a:br>
              <a:rPr lang="en-GB" sz="1400" dirty="0"/>
            </a:br>
            <a:endParaRPr lang="en-GB" sz="1400" b="1" dirty="0"/>
          </a:p>
          <a:p>
            <a:pPr marL="0" indent="0">
              <a:buNone/>
            </a:pPr>
            <a:endParaRPr lang="en-IN" sz="1400" dirty="0"/>
          </a:p>
          <a:p>
            <a:pPr marL="0" indent="0">
              <a:buNone/>
            </a:pPr>
            <a:endParaRPr lang="en-IN" sz="1400" dirty="0"/>
          </a:p>
          <a:p>
            <a:pPr marL="0" indent="0">
              <a:buNone/>
            </a:pPr>
            <a:endParaRPr lang="en-IN" sz="1400" dirty="0"/>
          </a:p>
          <a:p>
            <a:pPr marL="0" indent="0">
              <a:buNone/>
            </a:pPr>
            <a:endParaRPr lang="en-IN" sz="1400" dirty="0"/>
          </a:p>
          <a:p>
            <a:pPr marL="0" indent="0">
              <a:buNone/>
            </a:pPr>
            <a:endParaRPr lang="en-IN" sz="1400" dirty="0"/>
          </a:p>
          <a:p>
            <a:pPr marL="0" indent="0">
              <a:buNone/>
            </a:pPr>
            <a:endParaRPr lang="en-IN" sz="1400" dirty="0"/>
          </a:p>
          <a:p>
            <a:pPr marL="0" indent="0">
              <a:buNone/>
            </a:pPr>
            <a:endParaRPr lang="en-IN" sz="1400" dirty="0"/>
          </a:p>
          <a:p>
            <a:pPr marL="0" indent="0">
              <a:buNone/>
            </a:pPr>
            <a:endParaRPr lang="en-IN" sz="1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71DD040-2D64-DB9B-9E64-491047641B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58" y="1167483"/>
            <a:ext cx="2353003" cy="153373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EB364A4-30D7-49BB-8A9E-F79B138C8C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7833" y="1167483"/>
            <a:ext cx="2572109" cy="241016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6898BB5-9607-4272-5B39-869643F8E3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20152" y="422759"/>
            <a:ext cx="2086266" cy="685896"/>
          </a:xfrm>
          <a:prstGeom prst="rect">
            <a:avLst/>
          </a:prstGeom>
        </p:spPr>
      </p:pic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79F0AFBF-8B91-6E28-E4B1-B03BD9B8294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29818552"/>
              </p:ext>
            </p:extLst>
          </p:nvPr>
        </p:nvGraphicFramePr>
        <p:xfrm>
          <a:off x="2353003" y="815794"/>
          <a:ext cx="7194830" cy="356608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364619584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AC8AC5-0528-0E08-1E39-E89630AC2C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4ADEB2-1A6F-E32E-3D56-648B188AC0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664234"/>
          </a:xfrm>
        </p:spPr>
        <p:txBody>
          <a:bodyPr>
            <a:normAutofit/>
          </a:bodyPr>
          <a:lstStyle/>
          <a:p>
            <a:pPr algn="ctr"/>
            <a:r>
              <a:rPr lang="en-GB" sz="2800" b="1" dirty="0"/>
              <a:t>Task 7: Advanced KPI Reporting</a:t>
            </a:r>
            <a:endParaRPr lang="en-IN" sz="28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0730B5-2BF2-37E2-3A06-79613E4553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734146"/>
            <a:ext cx="12192000" cy="441809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sz="1400" dirty="0"/>
          </a:p>
          <a:p>
            <a:pPr marL="0" indent="0">
              <a:lnSpc>
                <a:spcPct val="2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GB" sz="1400" dirty="0"/>
              <a:t>Average delay hours vary widely across routes, ranging from </a:t>
            </a:r>
            <a:r>
              <a:rPr lang="en-GB" sz="1400" b="1" dirty="0"/>
              <a:t>~6.8 hours (R001)</a:t>
            </a:r>
            <a:r>
              <a:rPr lang="en-GB" sz="1400" dirty="0"/>
              <a:t> to </a:t>
            </a:r>
            <a:r>
              <a:rPr lang="en-GB" sz="1400" b="1" dirty="0"/>
              <a:t>~41.0 hours (R002)</a:t>
            </a:r>
            <a:r>
              <a:rPr lang="en-GB" sz="1400" dirty="0"/>
              <a:t>.</a:t>
            </a:r>
            <a:br>
              <a:rPr lang="en-GB" sz="1400" dirty="0"/>
            </a:br>
            <a:r>
              <a:rPr lang="en-GB" sz="1400" dirty="0"/>
              <a:t>Routes </a:t>
            </a:r>
            <a:r>
              <a:rPr lang="en-GB" sz="1400" b="1" dirty="0"/>
              <a:t>R002, R007, R020, and R003</a:t>
            </a:r>
            <a:r>
              <a:rPr lang="en-GB" sz="1400" dirty="0"/>
              <a:t> show the highest average delays (</a:t>
            </a:r>
            <a:r>
              <a:rPr lang="en-GB" sz="1400" b="1" dirty="0"/>
              <a:t>30+ hours</a:t>
            </a:r>
            <a:r>
              <a:rPr lang="en-GB" sz="1400" dirty="0"/>
              <a:t>), indicating persistent route-level inefficiencies.</a:t>
            </a:r>
            <a:br>
              <a:rPr lang="en-GB" sz="1400" dirty="0"/>
            </a:br>
            <a:r>
              <a:rPr lang="en-GB" sz="1400" dirty="0"/>
              <a:t>Mid-performing routes such as </a:t>
            </a:r>
            <a:r>
              <a:rPr lang="en-GB" sz="1400" b="1" dirty="0"/>
              <a:t>R004, R018, and R011</a:t>
            </a:r>
            <a:r>
              <a:rPr lang="en-GB" sz="1400" dirty="0"/>
              <a:t> experience average delays between </a:t>
            </a:r>
            <a:r>
              <a:rPr lang="en-GB" sz="1400" b="1" dirty="0"/>
              <a:t>20–26 hours</a:t>
            </a:r>
            <a:r>
              <a:rPr lang="en-GB" sz="1400" dirty="0"/>
              <a:t>.</a:t>
            </a:r>
            <a:br>
              <a:rPr lang="en-GB" sz="1400" dirty="0"/>
            </a:br>
            <a:r>
              <a:rPr lang="en-GB" sz="1400" dirty="0"/>
              <a:t>Several routes, including </a:t>
            </a:r>
            <a:r>
              <a:rPr lang="en-GB" sz="1400" b="1" dirty="0"/>
              <a:t>R001, R009, and R013</a:t>
            </a:r>
            <a:r>
              <a:rPr lang="en-GB" sz="1400" dirty="0"/>
              <a:t>, maintain comparatively lower delays (</a:t>
            </a:r>
            <a:r>
              <a:rPr lang="en-GB" sz="1400" b="1" dirty="0"/>
              <a:t>below 12 hours</a:t>
            </a:r>
            <a:r>
              <a:rPr lang="en-GB" sz="1400" dirty="0"/>
              <a:t>).</a:t>
            </a:r>
            <a:br>
              <a:rPr lang="en-GB" sz="1400" dirty="0"/>
            </a:br>
            <a:r>
              <a:rPr lang="en-GB" sz="1400" dirty="0"/>
              <a:t>This disparity highlights the importance of </a:t>
            </a:r>
            <a:r>
              <a:rPr lang="en-GB" sz="1400" b="1" dirty="0"/>
              <a:t>route-specific optimization strategies</a:t>
            </a:r>
            <a:r>
              <a:rPr lang="en-GB" sz="1400" dirty="0"/>
              <a:t> rather than a one-size-fits-all approach.</a:t>
            </a:r>
            <a:br>
              <a:rPr lang="en-GB" sz="1400" dirty="0"/>
            </a:br>
            <a:r>
              <a:rPr lang="en-GB" sz="1400" dirty="0"/>
              <a:t>Prioritizing high-delay routes can significantly reduce overall network-wide delivery delays.</a:t>
            </a:r>
            <a:endParaRPr lang="en-GB" sz="1400" b="1" dirty="0"/>
          </a:p>
          <a:p>
            <a:pPr marL="0" indent="0">
              <a:buNone/>
            </a:pPr>
            <a:endParaRPr lang="en-IN" sz="1400" dirty="0"/>
          </a:p>
          <a:p>
            <a:pPr marL="0" indent="0">
              <a:buNone/>
            </a:pPr>
            <a:endParaRPr lang="en-IN" sz="1400" dirty="0"/>
          </a:p>
          <a:p>
            <a:pPr marL="0" indent="0">
              <a:buNone/>
            </a:pPr>
            <a:endParaRPr lang="en-IN" sz="1400" dirty="0"/>
          </a:p>
          <a:p>
            <a:pPr marL="0" indent="0">
              <a:buNone/>
            </a:pPr>
            <a:endParaRPr lang="en-IN" sz="1400" dirty="0"/>
          </a:p>
          <a:p>
            <a:pPr marL="0" indent="0">
              <a:buNone/>
            </a:pPr>
            <a:endParaRPr lang="en-IN" sz="1400" dirty="0"/>
          </a:p>
          <a:p>
            <a:pPr marL="0" indent="0">
              <a:buNone/>
            </a:pPr>
            <a:endParaRPr lang="en-IN" sz="14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19FDD23-4D12-C403-5901-C791860C76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92" y="1362355"/>
            <a:ext cx="2019582" cy="1371791"/>
          </a:xfrm>
          <a:prstGeom prst="rect">
            <a:avLst/>
          </a:prstGeom>
        </p:spPr>
      </p:pic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569B7B22-09C9-0569-427A-18EA35DF313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30677795"/>
              </p:ext>
            </p:extLst>
          </p:nvPr>
        </p:nvGraphicFramePr>
        <p:xfrm>
          <a:off x="2157366" y="664233"/>
          <a:ext cx="9706952" cy="359994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7414856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D70BCD-7D77-7DC6-FBC4-44373DADAD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DE9418-5ABC-5489-EF8C-ACA9085DBD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664234"/>
          </a:xfrm>
        </p:spPr>
        <p:txBody>
          <a:bodyPr>
            <a:normAutofit/>
          </a:bodyPr>
          <a:lstStyle/>
          <a:p>
            <a:pPr algn="ctr"/>
            <a:r>
              <a:rPr lang="en-GB" sz="2800" b="1" dirty="0"/>
              <a:t>Task 7: Advanced KPI Reporting</a:t>
            </a:r>
            <a:endParaRPr lang="en-IN" sz="28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A46DDF-8F16-D4B1-263C-39E3BCA872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524125"/>
            <a:ext cx="12192000" cy="4333874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lnSpc>
                <a:spcPct val="150000"/>
              </a:lnSpc>
              <a:buNone/>
            </a:pPr>
            <a:br>
              <a:rPr lang="en-GB" sz="1400" dirty="0"/>
            </a:br>
            <a:r>
              <a:rPr lang="en-GB" sz="1400" dirty="0"/>
              <a:t>Warehouse utilization remains relatively low across all facilities, ranging from </a:t>
            </a:r>
            <a:r>
              <a:rPr lang="en-GB" sz="1400" b="1" dirty="0"/>
              <a:t>~3.0% (W009)</a:t>
            </a:r>
            <a:r>
              <a:rPr lang="en-GB" sz="1400" dirty="0"/>
              <a:t> to </a:t>
            </a:r>
            <a:r>
              <a:rPr lang="en-GB" sz="1400" b="1" dirty="0"/>
              <a:t>~10.3% (W010)</a:t>
            </a:r>
            <a:r>
              <a:rPr lang="en-GB" sz="1400" dirty="0"/>
              <a:t>.</a:t>
            </a:r>
            <a:br>
              <a:rPr lang="en-GB" sz="1400" dirty="0"/>
            </a:br>
            <a:r>
              <a:rPr lang="en-GB" sz="1400" dirty="0"/>
              <a:t>Warehouses </a:t>
            </a:r>
            <a:r>
              <a:rPr lang="en-GB" sz="1400" b="1" dirty="0"/>
              <a:t>W010 (10.3%)</a:t>
            </a:r>
            <a:r>
              <a:rPr lang="en-GB" sz="1400" dirty="0"/>
              <a:t> and </a:t>
            </a:r>
            <a:r>
              <a:rPr lang="en-GB" sz="1400" b="1" dirty="0"/>
              <a:t>W005 (10.2%)</a:t>
            </a:r>
            <a:r>
              <a:rPr lang="en-GB" sz="1400" dirty="0"/>
              <a:t> show the highest </a:t>
            </a:r>
            <a:r>
              <a:rPr lang="en-IN" sz="1400" dirty="0"/>
              <a:t>utilization</a:t>
            </a:r>
            <a:r>
              <a:rPr lang="en-GB" sz="1400" dirty="0"/>
              <a:t>, yet still operate far below full capacity.</a:t>
            </a:r>
            <a:br>
              <a:rPr lang="en-GB" sz="1400" dirty="0"/>
            </a:br>
            <a:r>
              <a:rPr lang="en-GB" sz="1400" dirty="0"/>
              <a:t>High-capacity warehouses such as </a:t>
            </a:r>
            <a:r>
              <a:rPr lang="en-GB" sz="1400" b="1" dirty="0"/>
              <a:t>W003 and W001 (3000 capacity/day)</a:t>
            </a:r>
            <a:r>
              <a:rPr lang="en-GB" sz="1400" dirty="0"/>
              <a:t> operate at </a:t>
            </a:r>
            <a:r>
              <a:rPr lang="en-GB" sz="1400" b="1" dirty="0"/>
              <a:t>below 4% utilization</a:t>
            </a:r>
            <a:r>
              <a:rPr lang="en-GB" sz="1400" dirty="0"/>
              <a:t>, indicating underuse of resources.</a:t>
            </a:r>
            <a:br>
              <a:rPr lang="en-GB" sz="1400" dirty="0"/>
            </a:br>
            <a:r>
              <a:rPr lang="en-GB" sz="1400" dirty="0"/>
              <a:t>Lower-capacity warehouses experience comparatively higher utilization, suggesting uneven workload distribution.</a:t>
            </a:r>
            <a:br>
              <a:rPr lang="en-GB" sz="1400" dirty="0"/>
            </a:br>
            <a:r>
              <a:rPr lang="en-GB" sz="1400" dirty="0"/>
              <a:t>This imbalance highlights opportunities for </a:t>
            </a:r>
            <a:r>
              <a:rPr lang="en-GB" sz="1400" b="1" dirty="0"/>
              <a:t>load redistribution and network-level optimization</a:t>
            </a:r>
            <a:r>
              <a:rPr lang="en-GB" sz="1400" dirty="0"/>
              <a:t>.</a:t>
            </a:r>
            <a:br>
              <a:rPr lang="en-GB" sz="1400" dirty="0"/>
            </a:br>
            <a:r>
              <a:rPr lang="en-GB" sz="1400" dirty="0"/>
              <a:t>Improving utilization can reduce per-unit operating costs and improve overall efficiency.</a:t>
            </a:r>
            <a:br>
              <a:rPr lang="en-GB" sz="1400" dirty="0"/>
            </a:br>
            <a:r>
              <a:rPr lang="en-GB" sz="1400" dirty="0"/>
              <a:t>Strategic capacity planning and demand alignment are required to better leverage existing infrastructure.</a:t>
            </a:r>
            <a:endParaRPr lang="en-IN" sz="1400" dirty="0"/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</a:pPr>
            <a:endParaRPr lang="en-GB" sz="1400" b="1" dirty="0"/>
          </a:p>
          <a:p>
            <a:pPr marL="0" indent="0">
              <a:buNone/>
            </a:pPr>
            <a:endParaRPr lang="en-IN" sz="1400" dirty="0"/>
          </a:p>
          <a:p>
            <a:pPr marL="0" indent="0">
              <a:buNone/>
            </a:pPr>
            <a:endParaRPr lang="en-IN" sz="1400" dirty="0"/>
          </a:p>
          <a:p>
            <a:pPr marL="0" indent="0">
              <a:buNone/>
            </a:pPr>
            <a:endParaRPr lang="en-IN" sz="1400" dirty="0"/>
          </a:p>
          <a:p>
            <a:pPr marL="0" indent="0">
              <a:buNone/>
            </a:pPr>
            <a:endParaRPr lang="en-IN" sz="1400" dirty="0"/>
          </a:p>
          <a:p>
            <a:pPr marL="0" indent="0">
              <a:buNone/>
            </a:pPr>
            <a:endParaRPr lang="en-IN" sz="1400" dirty="0"/>
          </a:p>
          <a:p>
            <a:pPr marL="0" indent="0">
              <a:buNone/>
            </a:pPr>
            <a:endParaRPr lang="en-IN" sz="1400" dirty="0"/>
          </a:p>
          <a:p>
            <a:pPr marL="0" indent="0">
              <a:buNone/>
            </a:pPr>
            <a:endParaRPr lang="en-IN" sz="1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B7E84E5-41ED-A1A9-8F32-5C8A303C52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52091"/>
            <a:ext cx="3581900" cy="3553321"/>
          </a:xfrm>
          <a:prstGeom prst="rect">
            <a:avLst/>
          </a:prstGeom>
        </p:spPr>
      </p:pic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823B1DB6-265A-FD10-26B6-09530663614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91420362"/>
              </p:ext>
            </p:extLst>
          </p:nvPr>
        </p:nvGraphicFramePr>
        <p:xfrm>
          <a:off x="3476445" y="1256918"/>
          <a:ext cx="4637701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9EAD0C95-E8C9-62FF-8C50-D3A11769E6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17164" y="1036713"/>
            <a:ext cx="4073237" cy="2140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739931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32B225-6119-3850-D775-AD81C894AC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EC9EFB-6CBC-41E3-DBB1-360F313184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345056"/>
            <a:ext cx="10515600" cy="1466490"/>
          </a:xfrm>
        </p:spPr>
        <p:txBody>
          <a:bodyPr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en-GB" sz="2800" b="1" dirty="0"/>
              <a:t>Task </a:t>
            </a:r>
            <a:r>
              <a:rPr lang="en-IN" sz="2800" b="1" dirty="0"/>
              <a:t>7: Advanced KPI Reporting</a:t>
            </a:r>
            <a:br>
              <a:rPr lang="en-GB" sz="2800" b="1" dirty="0"/>
            </a:br>
            <a:r>
              <a:rPr lang="en-IN" sz="1800" b="1" dirty="0"/>
              <a:t>(KEY INSIGHTS &amp; RECOMMENDATIONS)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854BFF-FF70-33B4-F5B7-B1FAD0D1C8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97147"/>
            <a:ext cx="12192000" cy="674397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1800" b="1" dirty="0"/>
              <a:t>     Key Insights</a:t>
            </a:r>
          </a:p>
          <a:p>
            <a:r>
              <a:rPr lang="en-GB" sz="1400" b="1" dirty="0"/>
              <a:t>Average Delivery Delay by Source Country</a:t>
            </a:r>
            <a:r>
              <a:rPr lang="en-GB" sz="1400" dirty="0"/>
              <a:t> shows strong variation, ranging from </a:t>
            </a:r>
            <a:r>
              <a:rPr lang="en-GB" sz="1400" b="1" dirty="0"/>
              <a:t>~9.7 hours (Canada)</a:t>
            </a:r>
            <a:r>
              <a:rPr lang="en-GB" sz="1400" dirty="0"/>
              <a:t> to </a:t>
            </a:r>
            <a:r>
              <a:rPr lang="en-GB" sz="1400" b="1" dirty="0"/>
              <a:t>~41 hours (UAE)</a:t>
            </a:r>
            <a:r>
              <a:rPr lang="en-GB" sz="1400" dirty="0"/>
              <a:t>, indicating country-specific operational inefficiencies.</a:t>
            </a:r>
          </a:p>
          <a:p>
            <a:r>
              <a:rPr lang="en-GB" sz="1400" dirty="0"/>
              <a:t>The overall </a:t>
            </a:r>
            <a:r>
              <a:rPr lang="en-GB" sz="1400" b="1" dirty="0"/>
              <a:t>On-Time Delivery Percentage is only ~6.8%</a:t>
            </a:r>
            <a:r>
              <a:rPr lang="en-GB" sz="1400" dirty="0"/>
              <a:t>, highlighting a major gap between actual performance and expected service levels.</a:t>
            </a:r>
          </a:p>
          <a:p>
            <a:r>
              <a:rPr lang="en-GB" sz="1400" b="1" dirty="0"/>
              <a:t>Route-level delays vary widely</a:t>
            </a:r>
            <a:r>
              <a:rPr lang="en-GB" sz="1400" dirty="0"/>
              <a:t>, with average delays ranging from </a:t>
            </a:r>
            <a:r>
              <a:rPr lang="en-GB" sz="1400" b="1" dirty="0"/>
              <a:t>~6.8 hours (R001)</a:t>
            </a:r>
            <a:r>
              <a:rPr lang="en-GB" sz="1400" dirty="0"/>
              <a:t> to </a:t>
            </a:r>
            <a:r>
              <a:rPr lang="en-GB" sz="1400" b="1" dirty="0"/>
              <a:t>~41 hours (R002)</a:t>
            </a:r>
            <a:r>
              <a:rPr lang="en-GB" sz="1400" dirty="0"/>
              <a:t>, confirming that certain routes consistently underperform.</a:t>
            </a:r>
          </a:p>
          <a:p>
            <a:r>
              <a:rPr lang="en-GB" sz="1400" b="1" dirty="0"/>
              <a:t>Warehouse utilization is low across all facilities</a:t>
            </a:r>
            <a:r>
              <a:rPr lang="en-GB" sz="1400" dirty="0"/>
              <a:t>, ranging from </a:t>
            </a:r>
            <a:r>
              <a:rPr lang="en-GB" sz="1400" b="1" dirty="0"/>
              <a:t>~3.0% to ~10.3%</a:t>
            </a:r>
            <a:r>
              <a:rPr lang="en-GB" sz="1400" dirty="0"/>
              <a:t>, indicating significant under-utilization of available capacity.</a:t>
            </a:r>
          </a:p>
          <a:p>
            <a:r>
              <a:rPr lang="en-GB" sz="1400" dirty="0"/>
              <a:t>High-capacity warehouses (3000 shipments/day) operate below </a:t>
            </a:r>
            <a:r>
              <a:rPr lang="en-GB" sz="1400" b="1" dirty="0"/>
              <a:t>4% utilization</a:t>
            </a:r>
            <a:r>
              <a:rPr lang="en-GB" sz="1400" dirty="0"/>
              <a:t>, while smaller warehouses show relatively higher usage.</a:t>
            </a:r>
          </a:p>
          <a:p>
            <a:pPr marL="0" indent="0">
              <a:buNone/>
            </a:pPr>
            <a:r>
              <a:rPr lang="en-GB" sz="1800" b="1" dirty="0"/>
              <a:t>     Business Recommendations</a:t>
            </a:r>
          </a:p>
          <a:p>
            <a:r>
              <a:rPr lang="en-GB" sz="1400" dirty="0"/>
              <a:t>Implement </a:t>
            </a:r>
            <a:r>
              <a:rPr lang="en-GB" sz="1400" b="1" dirty="0"/>
              <a:t>country-specific SLA targets and process improvements</a:t>
            </a:r>
            <a:r>
              <a:rPr lang="en-GB" sz="1400" dirty="0"/>
              <a:t>, especially for high-delay source countries like </a:t>
            </a:r>
            <a:r>
              <a:rPr lang="en-GB" sz="1400" b="1" dirty="0"/>
              <a:t>UAE, Turkey, and China</a:t>
            </a:r>
            <a:r>
              <a:rPr lang="en-GB" sz="1400" dirty="0"/>
              <a:t>.</a:t>
            </a:r>
          </a:p>
          <a:p>
            <a:r>
              <a:rPr lang="en-GB" sz="1400" dirty="0"/>
              <a:t>Prioritize </a:t>
            </a:r>
            <a:r>
              <a:rPr lang="en-GB" sz="1400" b="1" dirty="0"/>
              <a:t>route optimization efforts</a:t>
            </a:r>
            <a:r>
              <a:rPr lang="en-GB" sz="1400" dirty="0"/>
              <a:t> for high-delay routes (</a:t>
            </a:r>
            <a:r>
              <a:rPr lang="en-GB" sz="1400" b="1" dirty="0"/>
              <a:t>R002, R007, R020, R003</a:t>
            </a:r>
            <a:r>
              <a:rPr lang="en-GB" sz="1400" dirty="0"/>
              <a:t>) to reduce network-wide delays.</a:t>
            </a:r>
          </a:p>
          <a:p>
            <a:r>
              <a:rPr lang="en-GB" sz="1400" dirty="0"/>
              <a:t>Improve </a:t>
            </a:r>
            <a:r>
              <a:rPr lang="en-GB" sz="1400" b="1" dirty="0"/>
              <a:t>on-time delivery performance</a:t>
            </a:r>
            <a:r>
              <a:rPr lang="en-GB" sz="1400" dirty="0"/>
              <a:t> by addressing systemic causes such as traffic delays, warehouse congestion, and agent workload imbalance.</a:t>
            </a:r>
          </a:p>
          <a:p>
            <a:r>
              <a:rPr lang="en-GB" sz="1400" dirty="0"/>
              <a:t>Redistribute shipment volumes to </a:t>
            </a:r>
            <a:r>
              <a:rPr lang="en-GB" sz="1400" b="1" dirty="0"/>
              <a:t>better utilize under-used warehouses</a:t>
            </a:r>
            <a:r>
              <a:rPr lang="en-GB" sz="1400" dirty="0"/>
              <a:t>, improving cost efficiency and operational balance.</a:t>
            </a:r>
          </a:p>
          <a:p>
            <a:r>
              <a:rPr lang="en-GB" sz="1400" dirty="0"/>
              <a:t>Use these KPIs as </a:t>
            </a:r>
            <a:r>
              <a:rPr lang="en-GB" sz="1400" b="1" dirty="0"/>
              <a:t>continuous monitoring metrics</a:t>
            </a:r>
            <a:r>
              <a:rPr lang="en-GB" sz="1400" dirty="0"/>
              <a:t> to track improvements and support data-driven logistics decisions.</a:t>
            </a:r>
          </a:p>
          <a:p>
            <a:pPr marL="0" indent="0">
              <a:buNone/>
            </a:pPr>
            <a:r>
              <a:rPr lang="en-GB" sz="1800" b="1" dirty="0"/>
              <a:t>     Outcome Expected</a:t>
            </a:r>
          </a:p>
          <a:p>
            <a:r>
              <a:rPr lang="en-GB" sz="1400" dirty="0"/>
              <a:t>Reduced delivery delays and SLA breaches</a:t>
            </a:r>
          </a:p>
          <a:p>
            <a:r>
              <a:rPr lang="en-GB" sz="1400" dirty="0"/>
              <a:t>Improved on-time delivery performance</a:t>
            </a:r>
          </a:p>
          <a:p>
            <a:r>
              <a:rPr lang="en-GB" sz="1400" dirty="0"/>
              <a:t>Better warehouse capacity utilization</a:t>
            </a:r>
          </a:p>
          <a:p>
            <a:r>
              <a:rPr lang="en-GB" sz="1400" dirty="0"/>
              <a:t>More resilient and optimized DHL logistics network</a:t>
            </a:r>
          </a:p>
          <a:p>
            <a:pPr marL="0" indent="0">
              <a:buNone/>
            </a:pPr>
            <a:endParaRPr lang="en-IN" sz="1400" dirty="0"/>
          </a:p>
          <a:p>
            <a:pPr marL="0" indent="0">
              <a:buNone/>
            </a:pPr>
            <a:r>
              <a:rPr lang="en-IN" sz="1400" dirty="0"/>
              <a:t>  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</a:pPr>
            <a:endParaRPr lang="en-GB" sz="1400" b="1" dirty="0"/>
          </a:p>
          <a:p>
            <a:pPr marL="0" indent="0">
              <a:buNone/>
            </a:pPr>
            <a:endParaRPr lang="en-IN" sz="1400" dirty="0"/>
          </a:p>
          <a:p>
            <a:pPr marL="0" indent="0">
              <a:buNone/>
            </a:pPr>
            <a:endParaRPr lang="en-IN" sz="1400" dirty="0"/>
          </a:p>
          <a:p>
            <a:pPr marL="0" indent="0">
              <a:buNone/>
            </a:pPr>
            <a:endParaRPr lang="en-IN" sz="1400" dirty="0"/>
          </a:p>
          <a:p>
            <a:pPr marL="0" indent="0">
              <a:buNone/>
            </a:pPr>
            <a:endParaRPr lang="en-IN" sz="1400" dirty="0"/>
          </a:p>
          <a:p>
            <a:pPr marL="0" indent="0">
              <a:buNone/>
            </a:pPr>
            <a:endParaRPr lang="en-IN" sz="1400" dirty="0"/>
          </a:p>
          <a:p>
            <a:pPr marL="0" indent="0">
              <a:buNone/>
            </a:pPr>
            <a:endParaRPr lang="en-IN" sz="1400" dirty="0"/>
          </a:p>
          <a:p>
            <a:pPr marL="0" indent="0">
              <a:buNone/>
            </a:pPr>
            <a:endParaRPr lang="en-IN" sz="1400" dirty="0"/>
          </a:p>
          <a:p>
            <a:pPr marL="0" indent="0">
              <a:buNone/>
            </a:pPr>
            <a:endParaRPr lang="en-IN" sz="1400" dirty="0"/>
          </a:p>
          <a:p>
            <a:pPr marL="0" indent="0">
              <a:buNone/>
            </a:pPr>
            <a:endParaRPr lang="en-IN" sz="1400" dirty="0"/>
          </a:p>
          <a:p>
            <a:pPr marL="0" indent="0">
              <a:buNone/>
            </a:pPr>
            <a:endParaRPr lang="en-IN" sz="1400" dirty="0"/>
          </a:p>
          <a:p>
            <a:pPr marL="0" indent="0">
              <a:buNone/>
            </a:pPr>
            <a:endParaRPr lang="en-IN" sz="1400" dirty="0"/>
          </a:p>
          <a:p>
            <a:pPr marL="0" indent="0">
              <a:buNone/>
            </a:pPr>
            <a:endParaRPr lang="en-IN" sz="1400" dirty="0"/>
          </a:p>
          <a:p>
            <a:pPr marL="0" indent="0">
              <a:buNone/>
            </a:pPr>
            <a:endParaRPr lang="en-IN" sz="1400" dirty="0"/>
          </a:p>
          <a:p>
            <a:pPr marL="0" indent="0">
              <a:buNone/>
            </a:pPr>
            <a:endParaRPr lang="en-IN" sz="1400" dirty="0"/>
          </a:p>
          <a:p>
            <a:pPr marL="0" indent="0">
              <a:buNone/>
            </a:pP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36770064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AA14BF-0DF7-A3ED-0CD8-53A21D6E7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94FDD8-6863-2504-A39F-DF62E6CD4B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0"/>
            <a:ext cx="12191999" cy="664234"/>
          </a:xfrm>
        </p:spPr>
        <p:txBody>
          <a:bodyPr>
            <a:normAutofit/>
          </a:bodyPr>
          <a:lstStyle/>
          <a:p>
            <a:pPr algn="ctr"/>
            <a:r>
              <a:rPr lang="en-GB" sz="3600" b="1" dirty="0"/>
              <a:t>Final Summary: Key Insights &amp; Business Recommendations</a:t>
            </a:r>
            <a:endParaRPr lang="en-IN" sz="36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3C14A8-94CF-CEB8-F3A7-14545ADC82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588475"/>
            <a:ext cx="12192000" cy="6269524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-GB" sz="1800" b="1" dirty="0"/>
              <a:t>Key Insights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400" b="1" dirty="0"/>
              <a:t>Overall</a:t>
            </a:r>
            <a:r>
              <a:rPr lang="en-GB" sz="1400" dirty="0"/>
              <a:t> </a:t>
            </a:r>
            <a:r>
              <a:rPr lang="en-GB" sz="1400" b="1" dirty="0"/>
              <a:t>On-Time Delivery performance is low (~6.8%)</a:t>
            </a:r>
            <a:r>
              <a:rPr lang="en-GB" sz="1400" dirty="0"/>
              <a:t>, indicating widespread SLA breaches across routes, warehouses, and agents.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1400" b="1" dirty="0"/>
              <a:t>Route-level inefficiencies</a:t>
            </a:r>
            <a:r>
              <a:rPr lang="en-GB" sz="1400" dirty="0"/>
              <a:t> are significant, with average delays ranging from </a:t>
            </a:r>
            <a:r>
              <a:rPr lang="en-GB" sz="1400" b="1" dirty="0"/>
              <a:t>~6.8 hours to ~41 hours</a:t>
            </a:r>
            <a:r>
              <a:rPr lang="en-GB" sz="1400" dirty="0"/>
              <a:t>, requiring targeted optimization.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1400" b="1" dirty="0"/>
              <a:t>Traffic (51%) and Weather (31%)</a:t>
            </a:r>
            <a:r>
              <a:rPr lang="en-GB" sz="1400" dirty="0"/>
              <a:t> are the leading causes of delays, highlighting both operational and external risk factors.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1400" b="1" dirty="0"/>
              <a:t>Warehouse utilization is critically low (3%–10%)</a:t>
            </a:r>
            <a:r>
              <a:rPr lang="en-GB" sz="1400" dirty="0"/>
              <a:t>, suggesting underutilized capacity and uneven workload distribution.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1400" b="1" dirty="0"/>
              <a:t>Agent performance varies widely (0%–24%)</a:t>
            </a:r>
            <a:r>
              <a:rPr lang="en-GB" sz="1400" dirty="0"/>
              <a:t>, and ratings or experience alone do not strongly correlate with delivery reliability.</a:t>
            </a:r>
            <a:br>
              <a:rPr lang="en-GB" sz="1400" dirty="0"/>
            </a:br>
            <a:endParaRPr lang="en-GB" sz="1400" dirty="0"/>
          </a:p>
          <a:p>
            <a:pPr marL="0" indent="0" algn="ctr">
              <a:buNone/>
            </a:pPr>
            <a:r>
              <a:rPr lang="en-GB" sz="1400" b="1" dirty="0"/>
              <a:t>  </a:t>
            </a:r>
            <a:r>
              <a:rPr lang="en-GB" sz="1800" b="1" dirty="0"/>
              <a:t>Business Recommendations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1400" dirty="0"/>
              <a:t>Prioritize </a:t>
            </a:r>
            <a:r>
              <a:rPr lang="en-GB" sz="1400" b="1" dirty="0"/>
              <a:t>high-delay routes and source countries</a:t>
            </a:r>
            <a:r>
              <a:rPr lang="en-GB" sz="1400" dirty="0"/>
              <a:t> (e.g., UAE, Turkey, China) for route redesign and SLA recalibration.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1400" dirty="0"/>
              <a:t>Improve </a:t>
            </a:r>
            <a:r>
              <a:rPr lang="en-GB" sz="1400" b="1" dirty="0"/>
              <a:t>on-time delivery performance</a:t>
            </a:r>
            <a:r>
              <a:rPr lang="en-GB" sz="1400" dirty="0"/>
              <a:t> through dynamic routing, traffic-aware scheduling, and proactive exception handling.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1400" dirty="0"/>
              <a:t>Rebalance shipment volumes to </a:t>
            </a:r>
            <a:r>
              <a:rPr lang="en-GB" sz="1400" b="1" dirty="0"/>
              <a:t>better utilize underused warehouses</a:t>
            </a:r>
            <a:r>
              <a:rPr lang="en-GB" sz="1400" dirty="0"/>
              <a:t>, improving cost efficiency and throughput.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1400" dirty="0"/>
              <a:t>Implement </a:t>
            </a:r>
            <a:r>
              <a:rPr lang="en-GB" sz="1400" b="1" dirty="0"/>
              <a:t>targeted training and workload balancing</a:t>
            </a:r>
            <a:r>
              <a:rPr lang="en-GB" sz="1400" dirty="0"/>
              <a:t> for low-performing delivery agents.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1400" dirty="0"/>
              <a:t>Establish </a:t>
            </a:r>
            <a:r>
              <a:rPr lang="en-GB" sz="1400" b="1" dirty="0"/>
              <a:t>continuous KPI monitoring dashboards</a:t>
            </a:r>
            <a:r>
              <a:rPr lang="en-GB" sz="1400" dirty="0"/>
              <a:t> to track delays, utilization, and SLA compliance in real time.</a:t>
            </a:r>
            <a:br>
              <a:rPr lang="en-GB" sz="1400" dirty="0"/>
            </a:br>
            <a:endParaRPr lang="en-GB" sz="1400" dirty="0"/>
          </a:p>
          <a:p>
            <a:pPr marL="0" indent="0" algn="ctr">
              <a:buNone/>
            </a:pPr>
            <a:r>
              <a:rPr lang="en-GB" sz="1800" b="1" dirty="0"/>
              <a:t>Expected Business Impact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1400" dirty="0"/>
              <a:t>Reduced delivery delays and extreme delay cases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1400" dirty="0"/>
              <a:t>Improved SLA adherence and customer satisfaction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1400" dirty="0"/>
              <a:t>Better utilization of logistics infrastructure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1400" dirty="0"/>
              <a:t>More resilient and data-driven DHL logistics operations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GB" sz="1400" b="1" dirty="0"/>
              <a:t>Focus optimization efforts on high-delay routes, low on-time delivery areas, and underutilized warehouses through data-driven routing, capacity balancing, and targeted agent training to improve overall DHL logistics performance.</a:t>
            </a:r>
          </a:p>
          <a:p>
            <a:pPr marL="0" indent="0">
              <a:buNone/>
            </a:pPr>
            <a:endParaRPr lang="en-IN" sz="1400" dirty="0"/>
          </a:p>
          <a:p>
            <a:pPr marL="0" indent="0">
              <a:buNone/>
            </a:pPr>
            <a:endParaRPr lang="en-IN" sz="1400" dirty="0"/>
          </a:p>
          <a:p>
            <a:pPr marL="0" indent="0">
              <a:buNone/>
            </a:pPr>
            <a:endParaRPr lang="en-IN" sz="1400" dirty="0"/>
          </a:p>
          <a:p>
            <a:pPr marL="0" indent="0">
              <a:buNone/>
            </a:pPr>
            <a:endParaRPr lang="en-IN" sz="1400" dirty="0"/>
          </a:p>
          <a:p>
            <a:pPr marL="0" indent="0">
              <a:buNone/>
            </a:pPr>
            <a:endParaRPr lang="en-IN" sz="1400" dirty="0"/>
          </a:p>
          <a:p>
            <a:pPr marL="0" indent="0">
              <a:buNone/>
            </a:pPr>
            <a:endParaRPr lang="en-IN" sz="1400" dirty="0"/>
          </a:p>
          <a:p>
            <a:pPr marL="0" indent="0">
              <a:buNone/>
            </a:pPr>
            <a:endParaRPr lang="en-IN" sz="1400" dirty="0"/>
          </a:p>
          <a:p>
            <a:pPr marL="0" indent="0">
              <a:buNone/>
            </a:pPr>
            <a:endParaRPr lang="en-IN" sz="1400" dirty="0"/>
          </a:p>
          <a:p>
            <a:pPr marL="0" indent="0">
              <a:buNone/>
            </a:pPr>
            <a:endParaRPr lang="en-IN" sz="1400" dirty="0"/>
          </a:p>
          <a:p>
            <a:pPr marL="0" indent="0">
              <a:buNone/>
            </a:pPr>
            <a:endParaRPr lang="en-IN" sz="1400" dirty="0"/>
          </a:p>
          <a:p>
            <a:pPr marL="0" indent="0">
              <a:buNone/>
            </a:pPr>
            <a:endParaRPr lang="en-IN" sz="1400" dirty="0"/>
          </a:p>
          <a:p>
            <a:pPr marL="0" indent="0">
              <a:buNone/>
            </a:pPr>
            <a:endParaRPr lang="en-IN" sz="1400" dirty="0"/>
          </a:p>
          <a:p>
            <a:pPr marL="0" indent="0">
              <a:buNone/>
            </a:pPr>
            <a:endParaRPr lang="en-IN" sz="1400" dirty="0"/>
          </a:p>
          <a:p>
            <a:pPr marL="0" indent="0">
              <a:buNone/>
            </a:pPr>
            <a:endParaRPr lang="en-IN" sz="1400" dirty="0"/>
          </a:p>
          <a:p>
            <a:pPr marL="0" indent="0">
              <a:buNone/>
            </a:pPr>
            <a:endParaRPr lang="en-IN" sz="1400" dirty="0"/>
          </a:p>
          <a:p>
            <a:pPr marL="0" indent="0">
              <a:buNone/>
            </a:pPr>
            <a:endParaRPr lang="en-IN" sz="1400" dirty="0"/>
          </a:p>
          <a:p>
            <a:pPr marL="0" indent="0">
              <a:buNone/>
            </a:pPr>
            <a:endParaRPr lang="en-IN" sz="1400" dirty="0"/>
          </a:p>
          <a:p>
            <a:pPr marL="0" indent="0">
              <a:buNone/>
            </a:pP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167420286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7D3B85-8EBE-1A53-2FBB-42573E8666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817E4-6E72-0F48-BB2F-8CC8E64249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548143"/>
            <a:ext cx="12192000" cy="664234"/>
          </a:xfrm>
        </p:spPr>
        <p:txBody>
          <a:bodyPr>
            <a:normAutofit/>
          </a:bodyPr>
          <a:lstStyle/>
          <a:p>
            <a:pPr algn="ctr"/>
            <a:r>
              <a:rPr lang="en-IN" sz="2000" b="1" dirty="0"/>
              <a:t>Video Link: </a:t>
            </a:r>
            <a:r>
              <a:rPr lang="en-IN" sz="2000" b="1" dirty="0">
                <a:hlinkClick r:id="rId2"/>
              </a:rPr>
              <a:t>https://drive.google.com/file/d/1y4_bmdRfXY7KHTZazjETWCZuXegb9FgD/view?usp=drive_link</a:t>
            </a:r>
            <a:r>
              <a:rPr lang="en-IN" sz="2000" b="1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04EC41-2978-8D96-E553-83F759BC81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524125"/>
            <a:ext cx="12192000" cy="4333874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lnSpc>
                <a:spcPct val="150000"/>
              </a:lnSpc>
              <a:buNone/>
            </a:pPr>
            <a:br>
              <a:rPr lang="en-GB" sz="1400" dirty="0"/>
            </a:br>
            <a:endParaRPr lang="en-GB" sz="1400" b="1" dirty="0"/>
          </a:p>
          <a:p>
            <a:pPr marL="0" indent="0">
              <a:buNone/>
            </a:pPr>
            <a:endParaRPr lang="en-IN" sz="1400" dirty="0"/>
          </a:p>
          <a:p>
            <a:pPr marL="0" indent="0">
              <a:buNone/>
            </a:pPr>
            <a:endParaRPr lang="en-IN" sz="1400" dirty="0"/>
          </a:p>
          <a:p>
            <a:pPr marL="0" indent="0">
              <a:buNone/>
            </a:pPr>
            <a:endParaRPr lang="en-IN" sz="1400" dirty="0"/>
          </a:p>
          <a:p>
            <a:pPr marL="0" indent="0">
              <a:buNone/>
            </a:pPr>
            <a:endParaRPr lang="en-IN" sz="1400" dirty="0"/>
          </a:p>
          <a:p>
            <a:pPr marL="0" indent="0">
              <a:buNone/>
            </a:pPr>
            <a:endParaRPr lang="en-IN" sz="1400" dirty="0"/>
          </a:p>
          <a:p>
            <a:pPr marL="0" indent="0">
              <a:buNone/>
            </a:pPr>
            <a:endParaRPr lang="en-IN" sz="1400" dirty="0"/>
          </a:p>
          <a:p>
            <a:pPr marL="0" indent="0">
              <a:buNone/>
            </a:pP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944296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TM03090434[[fn=Wood Type]]</Template>
  <TotalTime>5931</TotalTime>
  <Words>4211</Words>
  <Application>Microsoft Office PowerPoint</Application>
  <PresentationFormat>Widescreen</PresentationFormat>
  <Paragraphs>424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1" baseType="lpstr">
      <vt:lpstr>Aptos</vt:lpstr>
      <vt:lpstr>Aptos Display</vt:lpstr>
      <vt:lpstr>Arial</vt:lpstr>
      <vt:lpstr>Arial Black</vt:lpstr>
      <vt:lpstr>Bookman Old Style</vt:lpstr>
      <vt:lpstr>Office Theme</vt:lpstr>
      <vt:lpstr> Logistics Optimization for Delivery Routes - DHL</vt:lpstr>
      <vt:lpstr>Task 1: Data Cleaning &amp; Preparation</vt:lpstr>
      <vt:lpstr>Task 2: Delivery Delay Analysis</vt:lpstr>
      <vt:lpstr>Task 2: Delivery Delay Analysis</vt:lpstr>
      <vt:lpstr>Task 2: Delivery Delay Analysis (KEY INSIGHTS &amp; RECOMMENDATIONS)</vt:lpstr>
      <vt:lpstr>Task 3: Route Optimization Insights</vt:lpstr>
      <vt:lpstr>Task 3: Route Optimization Insights</vt:lpstr>
      <vt:lpstr>Task 3: Route Optimization Insights</vt:lpstr>
      <vt:lpstr>Task 3: Route Optimization Insights (KEY INSIGHTS &amp; RECOMMENDATIONS)</vt:lpstr>
      <vt:lpstr>Task 4: Warehouse Performance</vt:lpstr>
      <vt:lpstr>Task 4: Warehouse Performance</vt:lpstr>
      <vt:lpstr>Task 4: Warehouse Performance (KEY INSIGHTS &amp; RECOMMENDATIONS)</vt:lpstr>
      <vt:lpstr>Task 5: Delivery Agent Performance</vt:lpstr>
      <vt:lpstr>Task 5: Delivery Agent Performance</vt:lpstr>
      <vt:lpstr>Task 5: Delivery Agent Performance</vt:lpstr>
      <vt:lpstr>Task 5: Delivery Agent Performance (KEY INSIGHTS &amp; RECOMMENDATIONS)</vt:lpstr>
      <vt:lpstr>Task 6: Shipment Tracking Analytics</vt:lpstr>
      <vt:lpstr>Task 6: Shipment Tracking Analytics</vt:lpstr>
      <vt:lpstr>Task 6: Shipment Tracking Analytics (KEY INSIGHTS &amp; RECOMMENDATIONS)</vt:lpstr>
      <vt:lpstr>Task 7: Advanced KPI Reporting</vt:lpstr>
      <vt:lpstr>Task 7: Advanced KPI Reporting</vt:lpstr>
      <vt:lpstr>Task 7: Advanced KPI Reporting</vt:lpstr>
      <vt:lpstr>Task 7: Advanced KPI Reporting (KEY INSIGHTS &amp; RECOMMENDATIONS)</vt:lpstr>
      <vt:lpstr>Final Summary: Key Insights &amp; Business Recommendations</vt:lpstr>
      <vt:lpstr>Video Link: https://drive.google.com/file/d/1y4_bmdRfXY7KHTZazjETWCZuXegb9FgD/view?usp=drive_link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Nihal Mahto</dc:creator>
  <cp:lastModifiedBy>Nihal Mahto</cp:lastModifiedBy>
  <cp:revision>20</cp:revision>
  <dcterms:created xsi:type="dcterms:W3CDTF">2025-11-16T15:31:28Z</dcterms:created>
  <dcterms:modified xsi:type="dcterms:W3CDTF">2026-01-23T08:16:38Z</dcterms:modified>
</cp:coreProperties>
</file>